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This deck recaps the MarketIntel demo: an MCP server built with FastMCP that uses Tavily for live web search, and is used from Cursor AI. The four coloured circles on the right are the roles we will keep using on every slide: Host, Client, Server and the external Tavily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Cursor AI, the application the user interacts with. It contains the LLM and decides which tool calls are allowed. Client: the MCP client component built into Cursor. It is configured by the mcp.json entry named MarketIntel and keeps a one-to-one connection with the server. Server: MarketIntel, our server.py built with FastMCP, running locally and served over SSE. Tavily is an external service that the server calls with an API key; it is not part of the MCP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left to right. Inside the host (Cursor AI) sit the chat panel, the LLM and the MCP client. The client reads mcp.json and connects to http://127.0.0.1:8000/sse. MarketIntel exposes five tools, one resource and one prompt. Every tool goes through the _tsearch helper, which calls Tavily with the API key. Tavily searches and extracts from the public web and returns structured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servers can expose three kinds of capability. Tools do work on demand; here all five call Tavily through the _tsearch helper, and product_portfolio also runs Tavily extract on product and pricing URLs. The resource is a static list of research topics that a client can read. The prompt is a reusable template that guides the model to produce a consistent competitor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Steps 1, 3 and 6 happen in the host, steps 2 and 4 are the client, and step 5 is the server talking to Tavily. Colours match the roles used on the earlier slides. The command strip shows how to start the server; the tip reminds that API keys should live in environment variables, which server.py already supports through the os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548640" y="822960"/>
            <a:ext cx="5029200" cy="274320"/>
          </a:xfrm>
          <a:prstGeom prst="rect">
            <a:avLst/>
          </a:prstGeom>
          <a:noFill/>
          <a:ln/>
        </p:spPr>
        <p:txBody>
          <a:bodyPr wrap="square" lIns="0" tIns="0" rIns="0" bIns="0" rtlCol="0" anchor="ctr"/>
          <a:lstStyle/>
          <a:p>
            <a:pPr indent="0" marL="0">
              <a:buNone/>
            </a:pPr>
            <a:r>
              <a:rPr lang="en-US" sz="1200" b="1" spc="300" kern="0" dirty="0">
                <a:solidFill>
                  <a:srgbClr val="5FC3CB"/>
                </a:solidFill>
                <a:latin typeface="Calibri" pitchFamily="34" charset="0"/>
                <a:ea typeface="Calibri" pitchFamily="34" charset="-122"/>
                <a:cs typeface="Calibri" pitchFamily="34" charset="-120"/>
              </a:rPr>
              <a:t>MCP DEMO  ·  MARKET RESEARCH</a:t>
            </a:r>
            <a:endParaRPr lang="en-US" sz="1200" dirty="0"/>
          </a:p>
        </p:txBody>
      </p:sp>
      <p:sp>
        <p:nvSpPr>
          <p:cNvPr id="3" name="Text 1"/>
          <p:cNvSpPr txBox="1"/>
          <p:nvPr/>
        </p:nvSpPr>
        <p:spPr>
          <a:xfrm>
            <a:off x="548640" y="1234440"/>
            <a:ext cx="5120640" cy="14173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MarketIntel</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MCP Server</a:t>
            </a:r>
            <a:endParaRPr lang="en-US" sz="4400" dirty="0"/>
          </a:p>
        </p:txBody>
      </p:sp>
      <p:sp>
        <p:nvSpPr>
          <p:cNvPr id="4" name="Text 2"/>
          <p:cNvSpPr txBox="1"/>
          <p:nvPr/>
        </p:nvSpPr>
        <p:spPr>
          <a:xfrm>
            <a:off x="548640" y="2788920"/>
            <a:ext cx="4846320" cy="640080"/>
          </a:xfrm>
          <a:prstGeom prst="rect">
            <a:avLst/>
          </a:prstGeom>
          <a:noFill/>
          <a:ln/>
        </p:spPr>
        <p:txBody>
          <a:bodyPr wrap="square" lIns="0" tIns="0" rIns="0" bIns="0" rtlCol="0" anchor="t"/>
          <a:lstStyle/>
          <a:p>
            <a:pPr indent="0" marL="0">
              <a:buNone/>
            </a:pPr>
            <a:r>
              <a:rPr lang="en-US" sz="1800" dirty="0">
                <a:solidFill>
                  <a:srgbClr val="C9D6DF"/>
                </a:solidFill>
                <a:latin typeface="Calibri" pitchFamily="34" charset="0"/>
                <a:ea typeface="Calibri" pitchFamily="34" charset="-122"/>
                <a:cs typeface="Calibri" pitchFamily="34" charset="-120"/>
              </a:rPr>
              <a:t>Automated market research with MCP, Tavily and Cursor</a:t>
            </a:r>
            <a:endParaRPr lang="en-US" sz="1800" dirty="0"/>
          </a:p>
        </p:txBody>
      </p:sp>
      <p:sp>
        <p:nvSpPr>
          <p:cNvPr id="5" name="Text 3"/>
          <p:cNvSpPr txBox="1"/>
          <p:nvPr/>
        </p:nvSpPr>
        <p:spPr>
          <a:xfrm>
            <a:off x="548640" y="4343400"/>
            <a:ext cx="5120640" cy="274320"/>
          </a:xfrm>
          <a:prstGeom prst="rect">
            <a:avLst/>
          </a:prstGeom>
          <a:noFill/>
          <a:ln/>
        </p:spPr>
        <p:txBody>
          <a:bodyPr wrap="square" lIns="0" tIns="0" rIns="0" bIns="0" rtlCol="0" anchor="ctr"/>
          <a:lstStyle/>
          <a:p>
            <a:pPr indent="0" marL="0">
              <a:buNone/>
            </a:pPr>
            <a:r>
              <a:rPr lang="en-US" sz="1200" dirty="0">
                <a:solidFill>
                  <a:srgbClr val="8FA3B1"/>
                </a:solidFill>
                <a:latin typeface="Calibri" pitchFamily="34" charset="0"/>
                <a:ea typeface="Calibri" pitchFamily="34" charset="-122"/>
                <a:cs typeface="Calibri" pitchFamily="34" charset="-120"/>
              </a:rPr>
              <a:t>Architecture  ·  Roles  ·  Capabilities  ·  Request flow</a:t>
            </a:r>
            <a:endParaRPr lang="en-US" sz="1200" dirty="0"/>
          </a:p>
        </p:txBody>
      </p:sp>
      <p:sp>
        <p:nvSpPr>
          <p:cNvPr id="6" name="Shape 4"/>
          <p:cNvSpPr/>
          <p:nvPr/>
        </p:nvSpPr>
        <p:spPr>
          <a:xfrm>
            <a:off x="6469380" y="1463040"/>
            <a:ext cx="0" cy="411480"/>
          </a:xfrm>
          <a:prstGeom prst="line">
            <a:avLst/>
          </a:prstGeom>
          <a:noFill/>
          <a:ln w="25400">
            <a:solidFill>
              <a:srgbClr val="5B6B78"/>
            </a:solidFill>
            <a:prstDash val="solid"/>
          </a:ln>
        </p:spPr>
      </p:sp>
      <p:sp>
        <p:nvSpPr>
          <p:cNvPr id="7" name="Shape 5"/>
          <p:cNvSpPr/>
          <p:nvPr/>
        </p:nvSpPr>
        <p:spPr>
          <a:xfrm>
            <a:off x="6126480" y="777240"/>
            <a:ext cx="685800" cy="685800"/>
          </a:xfrm>
          <a:prstGeom prst="ellipse">
            <a:avLst/>
          </a:prstGeom>
          <a:solidFill>
            <a:srgbClr val="0E7C86"/>
          </a:solidFill>
          <a:ln w="12700">
            <a:solidFill>
              <a:srgbClr val="0E7C86"/>
            </a:solidFill>
            <a:prstDash val="solid"/>
          </a:ln>
        </p:spPr>
      </p:sp>
      <p:pic>
        <p:nvPicPr>
          <p:cNvPr id="8" name="Image 0" descr="preencoded.png">    </p:cNvPr>
          <p:cNvPicPr>
            <a:picLocks noChangeAspect="1"/>
          </p:cNvPicPr>
          <p:nvPr/>
        </p:nvPicPr>
        <p:blipFill>
          <a:blip r:embed="rId1"/>
          <a:stretch>
            <a:fillRect/>
          </a:stretch>
        </p:blipFill>
        <p:spPr>
          <a:xfrm>
            <a:off x="6304788" y="955548"/>
            <a:ext cx="329184" cy="329184"/>
          </a:xfrm>
          <a:prstGeom prst="rect">
            <a:avLst/>
          </a:prstGeom>
        </p:spPr>
      </p:pic>
      <p:sp>
        <p:nvSpPr>
          <p:cNvPr id="9" name="Text 6"/>
          <p:cNvSpPr txBox="1"/>
          <p:nvPr/>
        </p:nvSpPr>
        <p:spPr>
          <a:xfrm>
            <a:off x="6995160" y="822960"/>
            <a:ext cx="178308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Host</a:t>
            </a:r>
            <a:endParaRPr lang="en-US" sz="1600" dirty="0"/>
          </a:p>
          <a:p>
            <a:pPr indent="0" marL="0">
              <a:buNone/>
            </a:pPr>
            <a:r>
              <a:rPr lang="en-US" sz="1100" dirty="0">
                <a:solidFill>
                  <a:srgbClr val="A9BAC6"/>
                </a:solidFill>
                <a:latin typeface="Calibri" pitchFamily="34" charset="0"/>
                <a:ea typeface="Calibri" pitchFamily="34" charset="-122"/>
                <a:cs typeface="Calibri" pitchFamily="34" charset="-120"/>
              </a:rPr>
              <a:t>Cursor AI</a:t>
            </a:r>
            <a:endParaRPr lang="en-US" sz="1600" dirty="0"/>
          </a:p>
        </p:txBody>
      </p:sp>
      <p:sp>
        <p:nvSpPr>
          <p:cNvPr id="10" name="Shape 7"/>
          <p:cNvSpPr/>
          <p:nvPr/>
        </p:nvSpPr>
        <p:spPr>
          <a:xfrm>
            <a:off x="6469380" y="2560320"/>
            <a:ext cx="0" cy="411480"/>
          </a:xfrm>
          <a:prstGeom prst="line">
            <a:avLst/>
          </a:prstGeom>
          <a:noFill/>
          <a:ln w="25400">
            <a:solidFill>
              <a:srgbClr val="5B6B78"/>
            </a:solidFill>
            <a:prstDash val="solid"/>
          </a:ln>
        </p:spPr>
      </p:sp>
      <p:sp>
        <p:nvSpPr>
          <p:cNvPr id="11" name="Shape 8"/>
          <p:cNvSpPr/>
          <p:nvPr/>
        </p:nvSpPr>
        <p:spPr>
          <a:xfrm>
            <a:off x="6126480" y="1874520"/>
            <a:ext cx="685800" cy="685800"/>
          </a:xfrm>
          <a:prstGeom prst="ellipse">
            <a:avLst/>
          </a:prstGeom>
          <a:solidFill>
            <a:srgbClr val="B7791F"/>
          </a:solidFill>
          <a:ln w="12700">
            <a:solidFill>
              <a:srgbClr val="B7791F"/>
            </a:solidFill>
            <a:prstDash val="solid"/>
          </a:ln>
        </p:spPr>
      </p:sp>
      <p:pic>
        <p:nvPicPr>
          <p:cNvPr id="12" name="Image 1" descr="preencoded.png">    </p:cNvPr>
          <p:cNvPicPr>
            <a:picLocks noChangeAspect="1"/>
          </p:cNvPicPr>
          <p:nvPr/>
        </p:nvPicPr>
        <p:blipFill>
          <a:blip r:embed="rId2"/>
          <a:stretch>
            <a:fillRect/>
          </a:stretch>
        </p:blipFill>
        <p:spPr>
          <a:xfrm>
            <a:off x="6304788" y="2052828"/>
            <a:ext cx="329184" cy="329184"/>
          </a:xfrm>
          <a:prstGeom prst="rect">
            <a:avLst/>
          </a:prstGeom>
        </p:spPr>
      </p:pic>
      <p:sp>
        <p:nvSpPr>
          <p:cNvPr id="13" name="Text 9"/>
          <p:cNvSpPr txBox="1"/>
          <p:nvPr/>
        </p:nvSpPr>
        <p:spPr>
          <a:xfrm>
            <a:off x="6995160" y="1920240"/>
            <a:ext cx="178308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Client</a:t>
            </a:r>
            <a:endParaRPr lang="en-US" sz="1600" dirty="0"/>
          </a:p>
          <a:p>
            <a:pPr indent="0" marL="0">
              <a:buNone/>
            </a:pPr>
            <a:r>
              <a:rPr lang="en-US" sz="1100" dirty="0">
                <a:solidFill>
                  <a:srgbClr val="A9BAC6"/>
                </a:solidFill>
                <a:latin typeface="Calibri" pitchFamily="34" charset="0"/>
                <a:ea typeface="Calibri" pitchFamily="34" charset="-122"/>
                <a:cs typeface="Calibri" pitchFamily="34" charset="-120"/>
              </a:rPr>
              <a:t>Built-in MCP client</a:t>
            </a:r>
            <a:endParaRPr lang="en-US" sz="1600" dirty="0"/>
          </a:p>
        </p:txBody>
      </p:sp>
      <p:sp>
        <p:nvSpPr>
          <p:cNvPr id="14" name="Shape 10"/>
          <p:cNvSpPr/>
          <p:nvPr/>
        </p:nvSpPr>
        <p:spPr>
          <a:xfrm>
            <a:off x="6469380" y="3657600"/>
            <a:ext cx="0" cy="411480"/>
          </a:xfrm>
          <a:prstGeom prst="line">
            <a:avLst/>
          </a:prstGeom>
          <a:noFill/>
          <a:ln w="25400">
            <a:solidFill>
              <a:srgbClr val="5B6B78"/>
            </a:solidFill>
            <a:prstDash val="solid"/>
          </a:ln>
        </p:spPr>
      </p:sp>
      <p:sp>
        <p:nvSpPr>
          <p:cNvPr id="15" name="Shape 11"/>
          <p:cNvSpPr/>
          <p:nvPr/>
        </p:nvSpPr>
        <p:spPr>
          <a:xfrm>
            <a:off x="6126480" y="2971800"/>
            <a:ext cx="685800" cy="685800"/>
          </a:xfrm>
          <a:prstGeom prst="ellipse">
            <a:avLst/>
          </a:prstGeom>
          <a:solidFill>
            <a:srgbClr val="6A4C93"/>
          </a:solidFill>
          <a:ln w="12700">
            <a:solidFill>
              <a:srgbClr val="6A4C93"/>
            </a:solidFill>
            <a:prstDash val="solid"/>
          </a:ln>
        </p:spPr>
      </p:sp>
      <p:pic>
        <p:nvPicPr>
          <p:cNvPr id="16" name="Image 2" descr="preencoded.png">    </p:cNvPr>
          <p:cNvPicPr>
            <a:picLocks noChangeAspect="1"/>
          </p:cNvPicPr>
          <p:nvPr/>
        </p:nvPicPr>
        <p:blipFill>
          <a:blip r:embed="rId3"/>
          <a:stretch>
            <a:fillRect/>
          </a:stretch>
        </p:blipFill>
        <p:spPr>
          <a:xfrm>
            <a:off x="6304788" y="3150108"/>
            <a:ext cx="329184" cy="329184"/>
          </a:xfrm>
          <a:prstGeom prst="rect">
            <a:avLst/>
          </a:prstGeom>
        </p:spPr>
      </p:pic>
      <p:sp>
        <p:nvSpPr>
          <p:cNvPr id="17" name="Text 12"/>
          <p:cNvSpPr txBox="1"/>
          <p:nvPr/>
        </p:nvSpPr>
        <p:spPr>
          <a:xfrm>
            <a:off x="6995160" y="3017520"/>
            <a:ext cx="178308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Server</a:t>
            </a:r>
            <a:endParaRPr lang="en-US" sz="1600" dirty="0"/>
          </a:p>
          <a:p>
            <a:pPr indent="0" marL="0">
              <a:buNone/>
            </a:pPr>
            <a:r>
              <a:rPr lang="en-US" sz="1100" dirty="0">
                <a:solidFill>
                  <a:srgbClr val="A9BAC6"/>
                </a:solidFill>
                <a:latin typeface="Calibri" pitchFamily="34" charset="0"/>
                <a:ea typeface="Calibri" pitchFamily="34" charset="-122"/>
                <a:cs typeface="Calibri" pitchFamily="34" charset="-120"/>
              </a:rPr>
              <a:t>MarketIntel (FastMCP)</a:t>
            </a:r>
            <a:endParaRPr lang="en-US" sz="1600" dirty="0"/>
          </a:p>
        </p:txBody>
      </p:sp>
      <p:sp>
        <p:nvSpPr>
          <p:cNvPr id="18" name="Shape 13"/>
          <p:cNvSpPr/>
          <p:nvPr/>
        </p:nvSpPr>
        <p:spPr>
          <a:xfrm>
            <a:off x="6126480" y="4069080"/>
            <a:ext cx="685800" cy="685800"/>
          </a:xfrm>
          <a:prstGeom prst="ellipse">
            <a:avLst/>
          </a:prstGeom>
          <a:solidFill>
            <a:srgbClr val="4A5A6A"/>
          </a:solidFill>
          <a:ln w="12700">
            <a:solidFill>
              <a:srgbClr val="4A5A6A"/>
            </a:solidFill>
            <a:prstDash val="solid"/>
          </a:ln>
        </p:spPr>
      </p:sp>
      <p:pic>
        <p:nvPicPr>
          <p:cNvPr id="19" name="Image 3" descr="preencoded.png">    </p:cNvPr>
          <p:cNvPicPr>
            <a:picLocks noChangeAspect="1"/>
          </p:cNvPicPr>
          <p:nvPr/>
        </p:nvPicPr>
        <p:blipFill>
          <a:blip r:embed="rId4"/>
          <a:stretch>
            <a:fillRect/>
          </a:stretch>
        </p:blipFill>
        <p:spPr>
          <a:xfrm>
            <a:off x="6304788" y="4247388"/>
            <a:ext cx="329184" cy="329184"/>
          </a:xfrm>
          <a:prstGeom prst="rect">
            <a:avLst/>
          </a:prstGeom>
        </p:spPr>
      </p:pic>
      <p:sp>
        <p:nvSpPr>
          <p:cNvPr id="20" name="Text 14"/>
          <p:cNvSpPr txBox="1"/>
          <p:nvPr/>
        </p:nvSpPr>
        <p:spPr>
          <a:xfrm>
            <a:off x="6995160" y="4114800"/>
            <a:ext cx="1783080" cy="5943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External API</a:t>
            </a:r>
            <a:endParaRPr lang="en-US" sz="1600" dirty="0"/>
          </a:p>
          <a:p>
            <a:pPr indent="0" marL="0">
              <a:buNone/>
            </a:pPr>
            <a:r>
              <a:rPr lang="en-US" sz="1100" dirty="0">
                <a:solidFill>
                  <a:srgbClr val="A9BAC6"/>
                </a:solidFill>
                <a:latin typeface="Calibri" pitchFamily="34" charset="0"/>
                <a:ea typeface="Calibri" pitchFamily="34" charset="-122"/>
                <a:cs typeface="Calibri" pitchFamily="34" charset="-120"/>
              </a:rPr>
              <a:t>Tavily web search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9"/>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3200" b="1" dirty="0">
                <a:solidFill>
                  <a:srgbClr val="16222B"/>
                </a:solidFill>
                <a:latin typeface="Cambria" pitchFamily="34" charset="0"/>
                <a:ea typeface="Cambria" pitchFamily="34" charset="-122"/>
                <a:cs typeface="Cambria" pitchFamily="34" charset="-120"/>
              </a:rPr>
              <a:t>Who is who in this MCP setup?</a:t>
            </a:r>
            <a:endParaRPr lang="en-US" sz="3200" dirty="0"/>
          </a:p>
        </p:txBody>
      </p:sp>
      <p:sp>
        <p:nvSpPr>
          <p:cNvPr id="3" name="Shape 1"/>
          <p:cNvSpPr/>
          <p:nvPr/>
        </p:nvSpPr>
        <p:spPr>
          <a:xfrm>
            <a:off x="457200" y="1097280"/>
            <a:ext cx="1920240" cy="2971800"/>
          </a:xfrm>
          <a:prstGeom prst="roundRect">
            <a:avLst>
              <a:gd name="adj" fmla="val 3810"/>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40080" y="1280160"/>
            <a:ext cx="566928" cy="566928"/>
          </a:xfrm>
          <a:prstGeom prst="ellipse">
            <a:avLst/>
          </a:prstGeom>
          <a:solidFill>
            <a:srgbClr val="0E7C86"/>
          </a:solidFill>
          <a:ln w="12700">
            <a:solidFill>
              <a:srgbClr val="0E7C86"/>
            </a:solidFill>
            <a:prstDash val="solid"/>
          </a:ln>
        </p:spPr>
      </p:sp>
      <p:pic>
        <p:nvPicPr>
          <p:cNvPr id="5" name="Image 0" descr="preencoded.png">    </p:cNvPr>
          <p:cNvPicPr>
            <a:picLocks noChangeAspect="1"/>
          </p:cNvPicPr>
          <p:nvPr/>
        </p:nvPicPr>
        <p:blipFill>
          <a:blip r:embed="rId1"/>
          <a:stretch>
            <a:fillRect/>
          </a:stretch>
        </p:blipFill>
        <p:spPr>
          <a:xfrm>
            <a:off x="787481" y="1427561"/>
            <a:ext cx="272125" cy="272125"/>
          </a:xfrm>
          <a:prstGeom prst="rect">
            <a:avLst/>
          </a:prstGeom>
        </p:spPr>
      </p:pic>
      <p:sp>
        <p:nvSpPr>
          <p:cNvPr id="6" name="Text 3"/>
          <p:cNvSpPr txBox="1"/>
          <p:nvPr/>
        </p:nvSpPr>
        <p:spPr>
          <a:xfrm>
            <a:off x="640080" y="2011680"/>
            <a:ext cx="1554480" cy="228600"/>
          </a:xfrm>
          <a:prstGeom prst="rect">
            <a:avLst/>
          </a:prstGeom>
          <a:noFill/>
          <a:ln/>
        </p:spPr>
        <p:txBody>
          <a:bodyPr wrap="square" lIns="0" tIns="0" rIns="0" bIns="0" rtlCol="0" anchor="ctr"/>
          <a:lstStyle/>
          <a:p>
            <a:pPr indent="0" marL="0">
              <a:buNone/>
            </a:pPr>
            <a:r>
              <a:rPr lang="en-US" sz="1100" b="1" spc="200" kern="0" dirty="0">
                <a:solidFill>
                  <a:srgbClr val="0E7C86"/>
                </a:solidFill>
                <a:latin typeface="Calibri" pitchFamily="34" charset="0"/>
                <a:ea typeface="Calibri" pitchFamily="34" charset="-122"/>
                <a:cs typeface="Calibri" pitchFamily="34" charset="-120"/>
              </a:rPr>
              <a:t>HOST</a:t>
            </a:r>
            <a:endParaRPr lang="en-US" sz="1100" dirty="0"/>
          </a:p>
        </p:txBody>
      </p:sp>
      <p:sp>
        <p:nvSpPr>
          <p:cNvPr id="7" name="Text 4"/>
          <p:cNvSpPr txBox="1"/>
          <p:nvPr/>
        </p:nvSpPr>
        <p:spPr>
          <a:xfrm>
            <a:off x="640080" y="2258568"/>
            <a:ext cx="1554480" cy="566928"/>
          </a:xfrm>
          <a:prstGeom prst="rect">
            <a:avLst/>
          </a:prstGeom>
          <a:noFill/>
          <a:ln/>
        </p:spPr>
        <p:txBody>
          <a:bodyPr wrap="square" lIns="0" tIns="0" rIns="0" bIns="0" rtlCol="0" anchor="t"/>
          <a:lstStyle/>
          <a:p>
            <a:pPr indent="0" marL="0">
              <a:buNone/>
            </a:pPr>
            <a:r>
              <a:rPr lang="en-US" sz="1600" b="1" dirty="0">
                <a:solidFill>
                  <a:srgbClr val="16222B"/>
                </a:solidFill>
                <a:latin typeface="Calibri" pitchFamily="34" charset="0"/>
                <a:ea typeface="Calibri" pitchFamily="34" charset="-122"/>
                <a:cs typeface="Calibri" pitchFamily="34" charset="-120"/>
              </a:rPr>
              <a:t>Cursor AI</a:t>
            </a:r>
            <a:endParaRPr lang="en-US" sz="1600" dirty="0"/>
          </a:p>
        </p:txBody>
      </p:sp>
      <p:sp>
        <p:nvSpPr>
          <p:cNvPr id="8" name="Text 5"/>
          <p:cNvSpPr txBox="1"/>
          <p:nvPr/>
        </p:nvSpPr>
        <p:spPr>
          <a:xfrm>
            <a:off x="640080" y="2880360"/>
            <a:ext cx="1554480" cy="1097280"/>
          </a:xfrm>
          <a:prstGeom prst="rect">
            <a:avLst/>
          </a:prstGeom>
          <a:noFill/>
          <a:ln/>
        </p:spPr>
        <p:txBody>
          <a:bodyPr wrap="square" lIns="0" tIns="0" rIns="0" bIns="0" rtlCol="0" anchor="t"/>
          <a:lstStyle/>
          <a:p>
            <a:pPr indent="0" marL="0">
              <a:buNone/>
            </a:pPr>
            <a:r>
              <a:rPr lang="en-US" sz="1200" dirty="0">
                <a:solidFill>
                  <a:srgbClr val="4A5A6A"/>
                </a:solidFill>
                <a:latin typeface="Calibri" pitchFamily="34" charset="0"/>
                <a:ea typeface="Calibri" pitchFamily="34" charset="-122"/>
                <a:cs typeface="Calibri" pitchFamily="34" charset="-120"/>
              </a:rPr>
              <a:t>The app the analyst works in. Runs the chat, embeds the LLM, and controls which tools may run.</a:t>
            </a:r>
            <a:endParaRPr lang="en-US" sz="1200" dirty="0"/>
          </a:p>
        </p:txBody>
      </p:sp>
      <p:sp>
        <p:nvSpPr>
          <p:cNvPr id="9" name="Shape 6"/>
          <p:cNvSpPr/>
          <p:nvPr/>
        </p:nvSpPr>
        <p:spPr>
          <a:xfrm>
            <a:off x="2560320" y="1097280"/>
            <a:ext cx="1920240" cy="2971800"/>
          </a:xfrm>
          <a:prstGeom prst="roundRect">
            <a:avLst>
              <a:gd name="adj" fmla="val 3810"/>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2743200" y="1280160"/>
            <a:ext cx="566928" cy="566928"/>
          </a:xfrm>
          <a:prstGeom prst="ellipse">
            <a:avLst/>
          </a:prstGeom>
          <a:solidFill>
            <a:srgbClr val="B7791F"/>
          </a:solidFill>
          <a:ln w="12700">
            <a:solidFill>
              <a:srgbClr val="B7791F"/>
            </a:solidFill>
            <a:prstDash val="solid"/>
          </a:ln>
        </p:spPr>
      </p:sp>
      <p:pic>
        <p:nvPicPr>
          <p:cNvPr id="11" name="Image 1" descr="preencoded.png">    </p:cNvPr>
          <p:cNvPicPr>
            <a:picLocks noChangeAspect="1"/>
          </p:cNvPicPr>
          <p:nvPr/>
        </p:nvPicPr>
        <p:blipFill>
          <a:blip r:embed="rId2"/>
          <a:stretch>
            <a:fillRect/>
          </a:stretch>
        </p:blipFill>
        <p:spPr>
          <a:xfrm>
            <a:off x="2890601" y="1427561"/>
            <a:ext cx="272125" cy="272125"/>
          </a:xfrm>
          <a:prstGeom prst="rect">
            <a:avLst/>
          </a:prstGeom>
        </p:spPr>
      </p:pic>
      <p:sp>
        <p:nvSpPr>
          <p:cNvPr id="12" name="Text 8"/>
          <p:cNvSpPr txBox="1"/>
          <p:nvPr/>
        </p:nvSpPr>
        <p:spPr>
          <a:xfrm>
            <a:off x="2743200" y="2011680"/>
            <a:ext cx="1554480" cy="228600"/>
          </a:xfrm>
          <a:prstGeom prst="rect">
            <a:avLst/>
          </a:prstGeom>
          <a:noFill/>
          <a:ln/>
        </p:spPr>
        <p:txBody>
          <a:bodyPr wrap="square" lIns="0" tIns="0" rIns="0" bIns="0" rtlCol="0" anchor="ctr"/>
          <a:lstStyle/>
          <a:p>
            <a:pPr indent="0" marL="0">
              <a:buNone/>
            </a:pPr>
            <a:r>
              <a:rPr lang="en-US" sz="1100" b="1" spc="200" kern="0" dirty="0">
                <a:solidFill>
                  <a:srgbClr val="B7791F"/>
                </a:solidFill>
                <a:latin typeface="Calibri" pitchFamily="34" charset="0"/>
                <a:ea typeface="Calibri" pitchFamily="34" charset="-122"/>
                <a:cs typeface="Calibri" pitchFamily="34" charset="-120"/>
              </a:rPr>
              <a:t>CLIENT</a:t>
            </a:r>
            <a:endParaRPr lang="en-US" sz="1100" dirty="0"/>
          </a:p>
        </p:txBody>
      </p:sp>
      <p:sp>
        <p:nvSpPr>
          <p:cNvPr id="13" name="Text 9"/>
          <p:cNvSpPr txBox="1"/>
          <p:nvPr/>
        </p:nvSpPr>
        <p:spPr>
          <a:xfrm>
            <a:off x="2743200" y="2258568"/>
            <a:ext cx="1554480" cy="566928"/>
          </a:xfrm>
          <a:prstGeom prst="rect">
            <a:avLst/>
          </a:prstGeom>
          <a:noFill/>
          <a:ln/>
        </p:spPr>
        <p:txBody>
          <a:bodyPr wrap="square" lIns="0" tIns="0" rIns="0" bIns="0" rtlCol="0" anchor="t"/>
          <a:lstStyle/>
          <a:p>
            <a:pPr indent="0" marL="0">
              <a:buNone/>
            </a:pPr>
            <a:r>
              <a:rPr lang="en-US" sz="1600" b="1" dirty="0">
                <a:solidFill>
                  <a:srgbClr val="16222B"/>
                </a:solidFill>
                <a:latin typeface="Calibri" pitchFamily="34" charset="0"/>
                <a:ea typeface="Calibri" pitchFamily="34" charset="-122"/>
                <a:cs typeface="Calibri" pitchFamily="34" charset="-120"/>
              </a:rPr>
              <a:t>Cursor's built-in MCP client</a:t>
            </a:r>
            <a:endParaRPr lang="en-US" sz="1600" dirty="0"/>
          </a:p>
        </p:txBody>
      </p:sp>
      <p:sp>
        <p:nvSpPr>
          <p:cNvPr id="14" name="Text 10"/>
          <p:cNvSpPr txBox="1"/>
          <p:nvPr/>
        </p:nvSpPr>
        <p:spPr>
          <a:xfrm>
            <a:off x="2743200" y="2880360"/>
            <a:ext cx="1554480" cy="1097280"/>
          </a:xfrm>
          <a:prstGeom prst="rect">
            <a:avLst/>
          </a:prstGeom>
          <a:noFill/>
          <a:ln/>
        </p:spPr>
        <p:txBody>
          <a:bodyPr wrap="square" lIns="0" tIns="0" rIns="0" bIns="0" rtlCol="0" anchor="t"/>
          <a:lstStyle/>
          <a:p>
            <a:pPr indent="0" marL="0">
              <a:buNone/>
            </a:pPr>
            <a:r>
              <a:rPr lang="en-US" sz="1200" dirty="0">
                <a:solidFill>
                  <a:srgbClr val="4A5A6A"/>
                </a:solidFill>
                <a:latin typeface="Calibri" pitchFamily="34" charset="0"/>
                <a:ea typeface="Calibri" pitchFamily="34" charset="-122"/>
                <a:cs typeface="Calibri" pitchFamily="34" charset="-120"/>
              </a:rPr>
              <a:t>Lives inside the host. Keeps a 1:1 link to MarketIntel using the url in mcp.json.</a:t>
            </a:r>
            <a:endParaRPr lang="en-US" sz="1200" dirty="0"/>
          </a:p>
        </p:txBody>
      </p:sp>
      <p:sp>
        <p:nvSpPr>
          <p:cNvPr id="15" name="Shape 11"/>
          <p:cNvSpPr/>
          <p:nvPr/>
        </p:nvSpPr>
        <p:spPr>
          <a:xfrm>
            <a:off x="4663440" y="1097280"/>
            <a:ext cx="1920240" cy="2971800"/>
          </a:xfrm>
          <a:prstGeom prst="roundRect">
            <a:avLst>
              <a:gd name="adj" fmla="val 3810"/>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4846320" y="1280160"/>
            <a:ext cx="566928" cy="566928"/>
          </a:xfrm>
          <a:prstGeom prst="ellipse">
            <a:avLst/>
          </a:prstGeom>
          <a:solidFill>
            <a:srgbClr val="6A4C93"/>
          </a:solidFill>
          <a:ln w="12700">
            <a:solidFill>
              <a:srgbClr val="6A4C93"/>
            </a:solidFill>
            <a:prstDash val="solid"/>
          </a:ln>
        </p:spPr>
      </p:sp>
      <p:pic>
        <p:nvPicPr>
          <p:cNvPr id="17" name="Image 2" descr="preencoded.png">    </p:cNvPr>
          <p:cNvPicPr>
            <a:picLocks noChangeAspect="1"/>
          </p:cNvPicPr>
          <p:nvPr/>
        </p:nvPicPr>
        <p:blipFill>
          <a:blip r:embed="rId3"/>
          <a:stretch>
            <a:fillRect/>
          </a:stretch>
        </p:blipFill>
        <p:spPr>
          <a:xfrm>
            <a:off x="4993721" y="1427561"/>
            <a:ext cx="272125" cy="272125"/>
          </a:xfrm>
          <a:prstGeom prst="rect">
            <a:avLst/>
          </a:prstGeom>
        </p:spPr>
      </p:pic>
      <p:sp>
        <p:nvSpPr>
          <p:cNvPr id="18" name="Text 13"/>
          <p:cNvSpPr txBox="1"/>
          <p:nvPr/>
        </p:nvSpPr>
        <p:spPr>
          <a:xfrm>
            <a:off x="4846320" y="2011680"/>
            <a:ext cx="1554480" cy="228600"/>
          </a:xfrm>
          <a:prstGeom prst="rect">
            <a:avLst/>
          </a:prstGeom>
          <a:noFill/>
          <a:ln/>
        </p:spPr>
        <p:txBody>
          <a:bodyPr wrap="square" lIns="0" tIns="0" rIns="0" bIns="0" rtlCol="0" anchor="ctr"/>
          <a:lstStyle/>
          <a:p>
            <a:pPr indent="0" marL="0">
              <a:buNone/>
            </a:pPr>
            <a:r>
              <a:rPr lang="en-US" sz="1100" b="1" spc="200" kern="0" dirty="0">
                <a:solidFill>
                  <a:srgbClr val="6A4C93"/>
                </a:solidFill>
                <a:latin typeface="Calibri" pitchFamily="34" charset="0"/>
                <a:ea typeface="Calibri" pitchFamily="34" charset="-122"/>
                <a:cs typeface="Calibri" pitchFamily="34" charset="-120"/>
              </a:rPr>
              <a:t>SERVER</a:t>
            </a:r>
            <a:endParaRPr lang="en-US" sz="1100" dirty="0"/>
          </a:p>
        </p:txBody>
      </p:sp>
      <p:sp>
        <p:nvSpPr>
          <p:cNvPr id="19" name="Text 14"/>
          <p:cNvSpPr txBox="1"/>
          <p:nvPr/>
        </p:nvSpPr>
        <p:spPr>
          <a:xfrm>
            <a:off x="4846320" y="2258568"/>
            <a:ext cx="1554480" cy="566928"/>
          </a:xfrm>
          <a:prstGeom prst="rect">
            <a:avLst/>
          </a:prstGeom>
          <a:noFill/>
          <a:ln/>
        </p:spPr>
        <p:txBody>
          <a:bodyPr wrap="square" lIns="0" tIns="0" rIns="0" bIns="0" rtlCol="0" anchor="t"/>
          <a:lstStyle/>
          <a:p>
            <a:pPr indent="0" marL="0">
              <a:buNone/>
            </a:pPr>
            <a:r>
              <a:rPr lang="en-US" sz="1600" b="1" dirty="0">
                <a:solidFill>
                  <a:srgbClr val="16222B"/>
                </a:solidFill>
                <a:latin typeface="Calibri" pitchFamily="34" charset="0"/>
                <a:ea typeface="Calibri" pitchFamily="34" charset="-122"/>
                <a:cs typeface="Calibri" pitchFamily="34" charset="-120"/>
              </a:rPr>
              <a:t>MarketIntel (server.py)</a:t>
            </a:r>
            <a:endParaRPr lang="en-US" sz="1600" dirty="0"/>
          </a:p>
        </p:txBody>
      </p:sp>
      <p:sp>
        <p:nvSpPr>
          <p:cNvPr id="20" name="Text 15"/>
          <p:cNvSpPr txBox="1"/>
          <p:nvPr/>
        </p:nvSpPr>
        <p:spPr>
          <a:xfrm>
            <a:off x="4846320" y="2880360"/>
            <a:ext cx="1554480" cy="1097280"/>
          </a:xfrm>
          <a:prstGeom prst="rect">
            <a:avLst/>
          </a:prstGeom>
          <a:noFill/>
          <a:ln/>
        </p:spPr>
        <p:txBody>
          <a:bodyPr wrap="square" lIns="0" tIns="0" rIns="0" bIns="0" rtlCol="0" anchor="t"/>
          <a:lstStyle/>
          <a:p>
            <a:pPr indent="0" marL="0">
              <a:buNone/>
            </a:pPr>
            <a:r>
              <a:rPr lang="en-US" sz="1200" dirty="0">
                <a:solidFill>
                  <a:srgbClr val="4A5A6A"/>
                </a:solidFill>
                <a:latin typeface="Calibri" pitchFamily="34" charset="0"/>
                <a:ea typeface="Calibri" pitchFamily="34" charset="-122"/>
                <a:cs typeface="Calibri" pitchFamily="34" charset="-120"/>
              </a:rPr>
              <a:t>FastMCP process at 127.0.0.1:8000/sse. Exposes 5 tools, 1 resource and 1 prompt.</a:t>
            </a:r>
            <a:endParaRPr lang="en-US" sz="1200" dirty="0"/>
          </a:p>
        </p:txBody>
      </p:sp>
      <p:sp>
        <p:nvSpPr>
          <p:cNvPr id="21" name="Shape 16"/>
          <p:cNvSpPr/>
          <p:nvPr/>
        </p:nvSpPr>
        <p:spPr>
          <a:xfrm>
            <a:off x="6766560" y="1097280"/>
            <a:ext cx="1920240" cy="2971800"/>
          </a:xfrm>
          <a:prstGeom prst="roundRect">
            <a:avLst>
              <a:gd name="adj" fmla="val 3810"/>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6949440" y="1280160"/>
            <a:ext cx="566928" cy="566928"/>
          </a:xfrm>
          <a:prstGeom prst="ellipse">
            <a:avLst/>
          </a:prstGeom>
          <a:solidFill>
            <a:srgbClr val="4A5A6A"/>
          </a:solidFill>
          <a:ln w="12700">
            <a:solidFill>
              <a:srgbClr val="4A5A6A"/>
            </a:solidFill>
            <a:prstDash val="solid"/>
          </a:ln>
        </p:spPr>
      </p:sp>
      <p:pic>
        <p:nvPicPr>
          <p:cNvPr id="23" name="Image 3" descr="preencoded.png">    </p:cNvPr>
          <p:cNvPicPr>
            <a:picLocks noChangeAspect="1"/>
          </p:cNvPicPr>
          <p:nvPr/>
        </p:nvPicPr>
        <p:blipFill>
          <a:blip r:embed="rId4"/>
          <a:stretch>
            <a:fillRect/>
          </a:stretch>
        </p:blipFill>
        <p:spPr>
          <a:xfrm>
            <a:off x="7096841" y="1427561"/>
            <a:ext cx="272125" cy="272125"/>
          </a:xfrm>
          <a:prstGeom prst="rect">
            <a:avLst/>
          </a:prstGeom>
        </p:spPr>
      </p:pic>
      <p:sp>
        <p:nvSpPr>
          <p:cNvPr id="24" name="Text 18"/>
          <p:cNvSpPr txBox="1"/>
          <p:nvPr/>
        </p:nvSpPr>
        <p:spPr>
          <a:xfrm>
            <a:off x="6949440" y="2011680"/>
            <a:ext cx="1554480" cy="228600"/>
          </a:xfrm>
          <a:prstGeom prst="rect">
            <a:avLst/>
          </a:prstGeom>
          <a:noFill/>
          <a:ln/>
        </p:spPr>
        <p:txBody>
          <a:bodyPr wrap="square" lIns="0" tIns="0" rIns="0" bIns="0" rtlCol="0" anchor="ctr"/>
          <a:lstStyle/>
          <a:p>
            <a:pPr indent="0" marL="0">
              <a:buNone/>
            </a:pPr>
            <a:r>
              <a:rPr lang="en-US" sz="1100" b="1" spc="200" kern="0" dirty="0">
                <a:solidFill>
                  <a:srgbClr val="4A5A6A"/>
                </a:solidFill>
                <a:latin typeface="Calibri" pitchFamily="34" charset="0"/>
                <a:ea typeface="Calibri" pitchFamily="34" charset="-122"/>
                <a:cs typeface="Calibri" pitchFamily="34" charset="-120"/>
              </a:rPr>
              <a:t>EXTERNAL API</a:t>
            </a:r>
            <a:endParaRPr lang="en-US" sz="1100" dirty="0"/>
          </a:p>
        </p:txBody>
      </p:sp>
      <p:sp>
        <p:nvSpPr>
          <p:cNvPr id="25" name="Text 19"/>
          <p:cNvSpPr txBox="1"/>
          <p:nvPr/>
        </p:nvSpPr>
        <p:spPr>
          <a:xfrm>
            <a:off x="6949440" y="2258568"/>
            <a:ext cx="1554480" cy="566928"/>
          </a:xfrm>
          <a:prstGeom prst="rect">
            <a:avLst/>
          </a:prstGeom>
          <a:noFill/>
          <a:ln/>
        </p:spPr>
        <p:txBody>
          <a:bodyPr wrap="square" lIns="0" tIns="0" rIns="0" bIns="0" rtlCol="0" anchor="t"/>
          <a:lstStyle/>
          <a:p>
            <a:pPr indent="0" marL="0">
              <a:buNone/>
            </a:pPr>
            <a:r>
              <a:rPr lang="en-US" sz="1600" b="1" dirty="0">
                <a:solidFill>
                  <a:srgbClr val="16222B"/>
                </a:solidFill>
                <a:latin typeface="Calibri" pitchFamily="34" charset="0"/>
                <a:ea typeface="Calibri" pitchFamily="34" charset="-122"/>
                <a:cs typeface="Calibri" pitchFamily="34" charset="-120"/>
              </a:rPr>
              <a:t>Tavily</a:t>
            </a:r>
            <a:endParaRPr lang="en-US" sz="1600" dirty="0"/>
          </a:p>
        </p:txBody>
      </p:sp>
      <p:sp>
        <p:nvSpPr>
          <p:cNvPr id="26" name="Text 20"/>
          <p:cNvSpPr txBox="1"/>
          <p:nvPr/>
        </p:nvSpPr>
        <p:spPr>
          <a:xfrm>
            <a:off x="6949440" y="2880360"/>
            <a:ext cx="1554480" cy="1097280"/>
          </a:xfrm>
          <a:prstGeom prst="rect">
            <a:avLst/>
          </a:prstGeom>
          <a:noFill/>
          <a:ln/>
        </p:spPr>
        <p:txBody>
          <a:bodyPr wrap="square" lIns="0" tIns="0" rIns="0" bIns="0" rtlCol="0" anchor="t"/>
          <a:lstStyle/>
          <a:p>
            <a:pPr indent="0" marL="0">
              <a:buNone/>
            </a:pPr>
            <a:r>
              <a:rPr lang="en-US" sz="1200" dirty="0">
                <a:solidFill>
                  <a:srgbClr val="4A5A6A"/>
                </a:solidFill>
                <a:latin typeface="Calibri" pitchFamily="34" charset="0"/>
                <a:ea typeface="Calibri" pitchFamily="34" charset="-122"/>
                <a:cs typeface="Calibri" pitchFamily="34" charset="-120"/>
              </a:rPr>
              <a:t>Live web search and extraction. Called by the server with an API key, outside MCP.</a:t>
            </a:r>
            <a:endParaRPr lang="en-US" sz="1200" dirty="0"/>
          </a:p>
        </p:txBody>
      </p:sp>
      <p:sp>
        <p:nvSpPr>
          <p:cNvPr id="27" name="Shape 21"/>
          <p:cNvSpPr/>
          <p:nvPr/>
        </p:nvSpPr>
        <p:spPr>
          <a:xfrm>
            <a:off x="457200" y="4251960"/>
            <a:ext cx="8229600" cy="566928"/>
          </a:xfrm>
          <a:prstGeom prst="roundRect">
            <a:avLst>
              <a:gd name="adj" fmla="val 12903"/>
            </a:avLst>
          </a:prstGeom>
          <a:solidFill>
            <a:srgbClr val="E3F1F2"/>
          </a:solidFill>
          <a:ln w="12700">
            <a:solidFill>
              <a:srgbClr val="E3F1F2"/>
            </a:solidFill>
            <a:prstDash val="solid"/>
          </a:ln>
        </p:spPr>
      </p:sp>
      <p:sp>
        <p:nvSpPr>
          <p:cNvPr id="28" name="Text 22"/>
          <p:cNvSpPr txBox="1"/>
          <p:nvPr/>
        </p:nvSpPr>
        <p:spPr>
          <a:xfrm>
            <a:off x="640080" y="4251960"/>
            <a:ext cx="7863840" cy="566928"/>
          </a:xfrm>
          <a:prstGeom prst="rect">
            <a:avLst/>
          </a:prstGeom>
          <a:noFill/>
          <a:ln/>
        </p:spPr>
        <p:txBody>
          <a:bodyPr wrap="square" lIns="0" tIns="0" rIns="0" bIns="0" rtlCol="0" anchor="ctr"/>
          <a:lstStyle/>
          <a:p>
            <a:pPr indent="0" marL="0">
              <a:buNone/>
            </a:pPr>
            <a:r>
              <a:rPr lang="en-US" sz="1200" b="1" dirty="0">
                <a:solidFill>
                  <a:srgbClr val="0E7C86"/>
                </a:solidFill>
                <a:latin typeface="Calibri" pitchFamily="34" charset="0"/>
                <a:ea typeface="Calibri" pitchFamily="34" charset="-122"/>
                <a:cs typeface="Calibri" pitchFamily="34" charset="-120"/>
              </a:rPr>
              <a:t>Key point: </a:t>
            </a:r>
            <a:pPr indent="0" marL="0">
              <a:buNone/>
            </a:pPr>
            <a:r>
              <a:rPr lang="en-US" sz="1200" dirty="0">
                <a:solidFill>
                  <a:srgbClr val="16222B"/>
                </a:solidFill>
                <a:latin typeface="Calibri" pitchFamily="34" charset="0"/>
                <a:ea typeface="Calibri" pitchFamily="34" charset="-122"/>
                <a:cs typeface="Calibri" pitchFamily="34" charset="-120"/>
              </a:rPr>
              <a:t>Tavily is neither an MCP client nor an MCP server here. MarketIntel calls it through the tavily-python SDK, so MCP covers only the Cursor to MarketIntel link.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9"/>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3200" b="1" dirty="0">
                <a:solidFill>
                  <a:srgbClr val="16222B"/>
                </a:solidFill>
                <a:latin typeface="Cambria" pitchFamily="34" charset="0"/>
                <a:ea typeface="Cambria" pitchFamily="34" charset="-122"/>
                <a:cs typeface="Cambria" pitchFamily="34" charset="-120"/>
              </a:rPr>
              <a:t>Architecture: how the pieces connect</a:t>
            </a:r>
            <a:endParaRPr lang="en-US" sz="3200" dirty="0"/>
          </a:p>
        </p:txBody>
      </p:sp>
      <p:sp>
        <p:nvSpPr>
          <p:cNvPr id="3" name="Shape 1"/>
          <p:cNvSpPr/>
          <p:nvPr/>
        </p:nvSpPr>
        <p:spPr>
          <a:xfrm>
            <a:off x="320040" y="960120"/>
            <a:ext cx="2834640" cy="3566160"/>
          </a:xfrm>
          <a:prstGeom prst="roundRect">
            <a:avLst>
              <a:gd name="adj" fmla="val 2581"/>
            </a:avLst>
          </a:prstGeom>
          <a:solidFill>
            <a:srgbClr val="E3F1F2"/>
          </a:solidFill>
          <a:ln w="19050">
            <a:solidFill>
              <a:srgbClr val="0E7C86"/>
            </a:solidFill>
            <a:prstDash val="dash"/>
          </a:ln>
        </p:spPr>
      </p:sp>
      <p:sp>
        <p:nvSpPr>
          <p:cNvPr id="4" name="Shape 2"/>
          <p:cNvSpPr/>
          <p:nvPr/>
        </p:nvSpPr>
        <p:spPr>
          <a:xfrm>
            <a:off x="457200" y="1051560"/>
            <a:ext cx="1737360" cy="274320"/>
          </a:xfrm>
          <a:prstGeom prst="roundRect">
            <a:avLst>
              <a:gd name="adj" fmla="val 16667"/>
            </a:avLst>
          </a:prstGeom>
          <a:solidFill>
            <a:srgbClr val="0E7C86"/>
          </a:solidFill>
          <a:ln w="12700">
            <a:solidFill>
              <a:srgbClr val="0E7C86"/>
            </a:solidFill>
            <a:prstDash val="solid"/>
          </a:ln>
        </p:spPr>
      </p:sp>
      <p:sp>
        <p:nvSpPr>
          <p:cNvPr id="5" name="Text 3"/>
          <p:cNvSpPr txBox="1"/>
          <p:nvPr/>
        </p:nvSpPr>
        <p:spPr>
          <a:xfrm>
            <a:off x="457200" y="1051560"/>
            <a:ext cx="173736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HOST  ·  Cursor AI</a:t>
            </a:r>
            <a:endParaRPr lang="en-US" sz="1000" dirty="0"/>
          </a:p>
        </p:txBody>
      </p:sp>
      <p:sp>
        <p:nvSpPr>
          <p:cNvPr id="6" name="Shape 4"/>
          <p:cNvSpPr/>
          <p:nvPr/>
        </p:nvSpPr>
        <p:spPr>
          <a:xfrm>
            <a:off x="502920" y="1463040"/>
            <a:ext cx="2468880" cy="502920"/>
          </a:xfrm>
          <a:prstGeom prst="roundRect">
            <a:avLst>
              <a:gd name="adj" fmla="val 10909"/>
            </a:avLst>
          </a:prstGeom>
          <a:solidFill>
            <a:srgbClr val="FFFFFF"/>
          </a:solidFill>
          <a:ln w="12700">
            <a:solidFill>
              <a:srgbClr val="0E7C86"/>
            </a:solidFill>
            <a:prstDash val="solid"/>
          </a:ln>
        </p:spPr>
      </p:sp>
      <p:sp>
        <p:nvSpPr>
          <p:cNvPr id="7" name="Text 5"/>
          <p:cNvSpPr txBox="1"/>
          <p:nvPr/>
        </p:nvSpPr>
        <p:spPr>
          <a:xfrm>
            <a:off x="502920" y="1463040"/>
            <a:ext cx="2468880" cy="502920"/>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User prompt</a:t>
            </a:r>
            <a:endParaRPr lang="en-US" sz="1100" dirty="0"/>
          </a:p>
          <a:p>
            <a:pPr algn="ctr" indent="0" marL="0">
              <a:buNone/>
            </a:pPr>
            <a:r>
              <a:rPr lang="en-US" sz="900" dirty="0">
                <a:solidFill>
                  <a:srgbClr val="4A5A6A"/>
                </a:solidFill>
                <a:latin typeface="Calibri" pitchFamily="34" charset="0"/>
                <a:ea typeface="Calibri" pitchFamily="34" charset="-122"/>
                <a:cs typeface="Calibri" pitchFamily="34" charset="-120"/>
              </a:rPr>
              <a:t>chat panel in the IDE</a:t>
            </a:r>
            <a:endParaRPr lang="en-US" sz="1100" dirty="0"/>
          </a:p>
        </p:txBody>
      </p:sp>
      <p:sp>
        <p:nvSpPr>
          <p:cNvPr id="8" name="Shape 6"/>
          <p:cNvSpPr/>
          <p:nvPr/>
        </p:nvSpPr>
        <p:spPr>
          <a:xfrm>
            <a:off x="502920" y="2240280"/>
            <a:ext cx="2468880" cy="548640"/>
          </a:xfrm>
          <a:prstGeom prst="roundRect">
            <a:avLst>
              <a:gd name="adj" fmla="val 10000"/>
            </a:avLst>
          </a:prstGeom>
          <a:solidFill>
            <a:srgbClr val="FFFFFF"/>
          </a:solidFill>
          <a:ln w="12700">
            <a:solidFill>
              <a:srgbClr val="0E7C86"/>
            </a:solidFill>
            <a:prstDash val="solid"/>
          </a:ln>
        </p:spPr>
      </p:sp>
      <p:sp>
        <p:nvSpPr>
          <p:cNvPr id="9" name="Text 7"/>
          <p:cNvSpPr txBox="1"/>
          <p:nvPr/>
        </p:nvSpPr>
        <p:spPr>
          <a:xfrm>
            <a:off x="502920" y="2240280"/>
            <a:ext cx="2468880" cy="548640"/>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LLM (Auto model mode)</a:t>
            </a:r>
            <a:endParaRPr lang="en-US" sz="1100" dirty="0"/>
          </a:p>
          <a:p>
            <a:pPr algn="ctr" indent="0" marL="0">
              <a:buNone/>
            </a:pPr>
            <a:r>
              <a:rPr lang="en-US" sz="900" dirty="0">
                <a:solidFill>
                  <a:srgbClr val="4A5A6A"/>
                </a:solidFill>
                <a:latin typeface="Calibri" pitchFamily="34" charset="0"/>
                <a:ea typeface="Calibri" pitchFamily="34" charset="-122"/>
                <a:cs typeface="Calibri" pitchFamily="34" charset="-120"/>
              </a:rPr>
              <a:t>decides which tools to call</a:t>
            </a:r>
            <a:endParaRPr lang="en-US" sz="1100" dirty="0"/>
          </a:p>
        </p:txBody>
      </p:sp>
      <p:sp>
        <p:nvSpPr>
          <p:cNvPr id="10" name="Shape 8"/>
          <p:cNvSpPr/>
          <p:nvPr/>
        </p:nvSpPr>
        <p:spPr>
          <a:xfrm>
            <a:off x="502920" y="3063240"/>
            <a:ext cx="2468880" cy="640080"/>
          </a:xfrm>
          <a:prstGeom prst="roundRect">
            <a:avLst>
              <a:gd name="adj" fmla="val 8571"/>
            </a:avLst>
          </a:prstGeom>
          <a:solidFill>
            <a:srgbClr val="FBF0DC"/>
          </a:solidFill>
          <a:ln w="12700">
            <a:solidFill>
              <a:srgbClr val="B7791F"/>
            </a:solidFill>
            <a:prstDash val="solid"/>
          </a:ln>
        </p:spPr>
      </p:sp>
      <p:sp>
        <p:nvSpPr>
          <p:cNvPr id="11" name="Text 9"/>
          <p:cNvSpPr txBox="1"/>
          <p:nvPr/>
        </p:nvSpPr>
        <p:spPr>
          <a:xfrm>
            <a:off x="502920" y="3063240"/>
            <a:ext cx="2468880" cy="640080"/>
          </a:xfrm>
          <a:prstGeom prst="rect">
            <a:avLst/>
          </a:prstGeom>
          <a:noFill/>
          <a:ln/>
        </p:spPr>
        <p:txBody>
          <a:bodyPr wrap="square" lIns="0" tIns="0" rIns="0" bIns="0" rtlCol="0" anchor="ctr"/>
          <a:lstStyle/>
          <a:p>
            <a:pPr algn="ctr" indent="0" marL="0">
              <a:buNone/>
            </a:pPr>
            <a:r>
              <a:rPr lang="en-US" sz="1100" b="1" dirty="0">
                <a:solidFill>
                  <a:srgbClr val="B7791F"/>
                </a:solidFill>
                <a:latin typeface="Calibri" pitchFamily="34" charset="0"/>
                <a:ea typeface="Calibri" pitchFamily="34" charset="-122"/>
                <a:cs typeface="Calibri" pitchFamily="34" charset="-120"/>
              </a:rPr>
              <a:t>MCP CLIENT</a:t>
            </a:r>
            <a:endParaRPr lang="en-US" sz="1100" dirty="0"/>
          </a:p>
          <a:p>
            <a:pPr algn="ctr" indent="0" marL="0">
              <a:buNone/>
            </a:pPr>
            <a:r>
              <a:rPr lang="en-US" sz="900" dirty="0">
                <a:solidFill>
                  <a:srgbClr val="4A5A6A"/>
                </a:solidFill>
                <a:latin typeface="Calibri" pitchFamily="34" charset="0"/>
                <a:ea typeface="Calibri" pitchFamily="34" charset="-122"/>
                <a:cs typeface="Calibri" pitchFamily="34" charset="-120"/>
              </a:rPr>
              <a:t>built into Cursor, one per server</a:t>
            </a:r>
            <a:endParaRPr lang="en-US" sz="1100" dirty="0"/>
          </a:p>
        </p:txBody>
      </p:sp>
      <p:sp>
        <p:nvSpPr>
          <p:cNvPr id="12" name="Shape 10"/>
          <p:cNvSpPr/>
          <p:nvPr/>
        </p:nvSpPr>
        <p:spPr>
          <a:xfrm>
            <a:off x="502920" y="3931920"/>
            <a:ext cx="2468880" cy="457200"/>
          </a:xfrm>
          <a:prstGeom prst="roundRect">
            <a:avLst>
              <a:gd name="adj" fmla="val 12000"/>
            </a:avLst>
          </a:prstGeom>
          <a:solidFill>
            <a:srgbClr val="FFFFFF"/>
          </a:solidFill>
          <a:ln w="12700">
            <a:solidFill>
              <a:srgbClr val="B9C4CC"/>
            </a:solidFill>
            <a:prstDash val="solid"/>
          </a:ln>
        </p:spPr>
      </p:sp>
      <p:sp>
        <p:nvSpPr>
          <p:cNvPr id="13" name="Text 11"/>
          <p:cNvSpPr txBox="1"/>
          <p:nvPr/>
        </p:nvSpPr>
        <p:spPr>
          <a:xfrm>
            <a:off x="502920" y="3931920"/>
            <a:ext cx="2468880" cy="457200"/>
          </a:xfrm>
          <a:prstGeom prst="rect">
            <a:avLst/>
          </a:prstGeom>
          <a:noFill/>
          <a:ln/>
        </p:spPr>
        <p:txBody>
          <a:bodyPr wrap="square" lIns="0" tIns="0" rIns="0" bIns="0" rtlCol="0" anchor="ctr"/>
          <a:lstStyle/>
          <a:p>
            <a:pPr algn="ctr" indent="0" marL="0">
              <a:buNone/>
            </a:pPr>
            <a:r>
              <a:rPr lang="en-US" sz="900" b="1" dirty="0">
                <a:solidFill>
                  <a:srgbClr val="16222B"/>
                </a:solidFill>
                <a:latin typeface="Calibri" pitchFamily="34" charset="0"/>
                <a:ea typeface="Calibri" pitchFamily="34" charset="-122"/>
                <a:cs typeface="Calibri" pitchFamily="34" charset="-120"/>
              </a:rPr>
              <a:t>mcp.json</a:t>
            </a:r>
            <a:endParaRPr lang="en-US" sz="900" dirty="0"/>
          </a:p>
          <a:p>
            <a:pPr algn="ctr" indent="0" marL="0">
              <a:buNone/>
            </a:pPr>
            <a:r>
              <a:rPr lang="en-US" sz="850" dirty="0">
                <a:solidFill>
                  <a:srgbClr val="4A5A6A"/>
                </a:solidFill>
                <a:latin typeface="Courier New" pitchFamily="34" charset="0"/>
                <a:ea typeface="Courier New" pitchFamily="34" charset="-122"/>
                <a:cs typeface="Courier New" pitchFamily="34" charset="-120"/>
              </a:rPr>
              <a:t>url: 127.0.0.1:8000/sse</a:t>
            </a:r>
            <a:endParaRPr lang="en-US" sz="900" dirty="0"/>
          </a:p>
        </p:txBody>
      </p:sp>
      <p:sp>
        <p:nvSpPr>
          <p:cNvPr id="14" name="Shape 12"/>
          <p:cNvSpPr/>
          <p:nvPr/>
        </p:nvSpPr>
        <p:spPr>
          <a:xfrm>
            <a:off x="1737360" y="1965960"/>
            <a:ext cx="0" cy="274320"/>
          </a:xfrm>
          <a:prstGeom prst="line">
            <a:avLst/>
          </a:prstGeom>
          <a:noFill/>
          <a:ln w="22225">
            <a:solidFill>
              <a:srgbClr val="0E7C86"/>
            </a:solidFill>
            <a:prstDash val="solid"/>
            <a:tailEnd type="triangle"/>
          </a:ln>
        </p:spPr>
      </p:sp>
      <p:sp>
        <p:nvSpPr>
          <p:cNvPr id="15" name="Shape 13"/>
          <p:cNvSpPr/>
          <p:nvPr/>
        </p:nvSpPr>
        <p:spPr>
          <a:xfrm>
            <a:off x="1737360" y="2788920"/>
            <a:ext cx="0" cy="274320"/>
          </a:xfrm>
          <a:prstGeom prst="line">
            <a:avLst/>
          </a:prstGeom>
          <a:noFill/>
          <a:ln w="22225">
            <a:solidFill>
              <a:srgbClr val="0E7C86"/>
            </a:solidFill>
            <a:prstDash val="solid"/>
            <a:headEnd type="triangle"/>
            <a:tailEnd type="triangle"/>
          </a:ln>
        </p:spPr>
      </p:sp>
      <p:sp>
        <p:nvSpPr>
          <p:cNvPr id="16" name="Shape 14"/>
          <p:cNvSpPr/>
          <p:nvPr/>
        </p:nvSpPr>
        <p:spPr>
          <a:xfrm>
            <a:off x="1737360" y="3703320"/>
            <a:ext cx="0" cy="228600"/>
          </a:xfrm>
          <a:prstGeom prst="line">
            <a:avLst/>
          </a:prstGeom>
          <a:noFill/>
          <a:ln w="22225">
            <a:solidFill>
              <a:srgbClr val="8A98A5"/>
            </a:solidFill>
            <a:prstDash val="solid"/>
            <a:headEnd type="triangle"/>
          </a:ln>
        </p:spPr>
      </p:sp>
      <p:sp>
        <p:nvSpPr>
          <p:cNvPr id="17" name="Shape 15"/>
          <p:cNvSpPr/>
          <p:nvPr/>
        </p:nvSpPr>
        <p:spPr>
          <a:xfrm>
            <a:off x="4069080" y="960120"/>
            <a:ext cx="2560320" cy="3566160"/>
          </a:xfrm>
          <a:prstGeom prst="roundRect">
            <a:avLst>
              <a:gd name="adj" fmla="val 2857"/>
            </a:avLst>
          </a:prstGeom>
          <a:solidFill>
            <a:srgbClr val="EFE9F6"/>
          </a:solidFill>
          <a:ln w="19050">
            <a:solidFill>
              <a:srgbClr val="6A4C93"/>
            </a:solidFill>
            <a:prstDash val="solid"/>
          </a:ln>
        </p:spPr>
      </p:sp>
      <p:sp>
        <p:nvSpPr>
          <p:cNvPr id="18" name="Shape 16"/>
          <p:cNvSpPr/>
          <p:nvPr/>
        </p:nvSpPr>
        <p:spPr>
          <a:xfrm>
            <a:off x="4206240" y="1051560"/>
            <a:ext cx="1920240" cy="274320"/>
          </a:xfrm>
          <a:prstGeom prst="roundRect">
            <a:avLst>
              <a:gd name="adj" fmla="val 16667"/>
            </a:avLst>
          </a:prstGeom>
          <a:solidFill>
            <a:srgbClr val="6A4C93"/>
          </a:solidFill>
          <a:ln w="12700">
            <a:solidFill>
              <a:srgbClr val="6A4C93"/>
            </a:solidFill>
            <a:prstDash val="solid"/>
          </a:ln>
        </p:spPr>
      </p:sp>
      <p:sp>
        <p:nvSpPr>
          <p:cNvPr id="19" name="Text 17"/>
          <p:cNvSpPr txBox="1"/>
          <p:nvPr/>
        </p:nvSpPr>
        <p:spPr>
          <a:xfrm>
            <a:off x="4206240" y="1051560"/>
            <a:ext cx="19202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SERVER  ·  MarketIntel</a:t>
            </a:r>
            <a:endParaRPr lang="en-US" sz="1000" dirty="0"/>
          </a:p>
        </p:txBody>
      </p:sp>
      <p:sp>
        <p:nvSpPr>
          <p:cNvPr id="20" name="Text 18"/>
          <p:cNvSpPr txBox="1"/>
          <p:nvPr/>
        </p:nvSpPr>
        <p:spPr>
          <a:xfrm>
            <a:off x="4206240" y="1371600"/>
            <a:ext cx="2286000" cy="201168"/>
          </a:xfrm>
          <a:prstGeom prst="rect">
            <a:avLst/>
          </a:prstGeom>
          <a:noFill/>
          <a:ln/>
        </p:spPr>
        <p:txBody>
          <a:bodyPr wrap="square" lIns="0" tIns="0" rIns="0" bIns="0" rtlCol="0" anchor="ctr"/>
          <a:lstStyle/>
          <a:p>
            <a:pPr algn="l" indent="0" marL="0">
              <a:buNone/>
            </a:pPr>
            <a:r>
              <a:rPr lang="en-US" sz="900" dirty="0">
                <a:solidFill>
                  <a:srgbClr val="6A4C93"/>
                </a:solidFill>
                <a:latin typeface="Calibri" pitchFamily="34" charset="0"/>
                <a:ea typeface="Calibri" pitchFamily="34" charset="-122"/>
                <a:cs typeface="Calibri" pitchFamily="34" charset="-120"/>
              </a:rPr>
              <a:t>FastMCP  ·  server.py  ·  SSE transport</a:t>
            </a:r>
            <a:endParaRPr lang="en-US" sz="900" dirty="0"/>
          </a:p>
        </p:txBody>
      </p:sp>
      <p:sp>
        <p:nvSpPr>
          <p:cNvPr id="21" name="Shape 19"/>
          <p:cNvSpPr/>
          <p:nvPr/>
        </p:nvSpPr>
        <p:spPr>
          <a:xfrm>
            <a:off x="4206240" y="1645920"/>
            <a:ext cx="2286000" cy="1234440"/>
          </a:xfrm>
          <a:prstGeom prst="roundRect">
            <a:avLst>
              <a:gd name="adj" fmla="val 4444"/>
            </a:avLst>
          </a:prstGeom>
          <a:solidFill>
            <a:srgbClr val="FFFFFF"/>
          </a:solidFill>
          <a:ln w="12700">
            <a:solidFill>
              <a:srgbClr val="6A4C93"/>
            </a:solidFill>
            <a:prstDash val="solid"/>
          </a:ln>
        </p:spPr>
      </p:sp>
      <p:sp>
        <p:nvSpPr>
          <p:cNvPr id="22" name="Text 20"/>
          <p:cNvSpPr txBox="1"/>
          <p:nvPr/>
        </p:nvSpPr>
        <p:spPr>
          <a:xfrm>
            <a:off x="4343400" y="1691640"/>
            <a:ext cx="2103120" cy="1143000"/>
          </a:xfrm>
          <a:prstGeom prst="rect">
            <a:avLst/>
          </a:prstGeom>
          <a:noFill/>
          <a:ln/>
        </p:spPr>
        <p:txBody>
          <a:bodyPr wrap="square" lIns="0" tIns="0" rIns="0" bIns="0" rtlCol="0" anchor="ctr"/>
          <a:lstStyle/>
          <a:p>
            <a:pPr indent="0" marL="0">
              <a:buNone/>
            </a:pPr>
            <a:r>
              <a:rPr lang="en-US" sz="1000" b="1" dirty="0">
                <a:solidFill>
                  <a:srgbClr val="6A4C93"/>
                </a:solidFill>
                <a:latin typeface="Calibri" pitchFamily="34" charset="0"/>
                <a:ea typeface="Calibri" pitchFamily="34" charset="-122"/>
                <a:cs typeface="Calibri" pitchFamily="34" charset="-120"/>
              </a:rPr>
              <a:t>TOOLS  ·  5</a:t>
            </a:r>
            <a:endParaRPr lang="en-US" sz="1000" dirty="0"/>
          </a:p>
          <a:p>
            <a:pPr indent="0" marL="0">
              <a:buNone/>
            </a:pPr>
            <a:r>
              <a:rPr lang="en-US" sz="850" dirty="0">
                <a:solidFill>
                  <a:srgbClr val="16222B"/>
                </a:solidFill>
                <a:latin typeface="Courier New" pitchFamily="34" charset="0"/>
                <a:ea typeface="Courier New" pitchFamily="34" charset="-122"/>
                <a:cs typeface="Courier New" pitchFamily="34" charset="-120"/>
              </a:rPr>
              <a:t>company_overview</a:t>
            </a:r>
            <a:endParaRPr lang="en-US" sz="1000" dirty="0"/>
          </a:p>
          <a:p>
            <a:pPr indent="0" marL="0">
              <a:buNone/>
            </a:pPr>
            <a:r>
              <a:rPr lang="en-US" sz="850" dirty="0">
                <a:solidFill>
                  <a:srgbClr val="16222B"/>
                </a:solidFill>
                <a:latin typeface="Courier New" pitchFamily="34" charset="0"/>
                <a:ea typeface="Courier New" pitchFamily="34" charset="-122"/>
                <a:cs typeface="Courier New" pitchFamily="34" charset="-120"/>
              </a:rPr>
              <a:t>list_competitors</a:t>
            </a:r>
            <a:endParaRPr lang="en-US" sz="1000" dirty="0"/>
          </a:p>
          <a:p>
            <a:pPr indent="0" marL="0">
              <a:buNone/>
            </a:pPr>
            <a:r>
              <a:rPr lang="en-US" sz="850" dirty="0">
                <a:solidFill>
                  <a:srgbClr val="16222B"/>
                </a:solidFill>
                <a:latin typeface="Courier New" pitchFamily="34" charset="0"/>
                <a:ea typeface="Courier New" pitchFamily="34" charset="-122"/>
                <a:cs typeface="Courier New" pitchFamily="34" charset="-120"/>
              </a:rPr>
              <a:t>product_portfolio</a:t>
            </a:r>
            <a:endParaRPr lang="en-US" sz="1000" dirty="0"/>
          </a:p>
          <a:p>
            <a:pPr indent="0" marL="0">
              <a:buNone/>
            </a:pPr>
            <a:r>
              <a:rPr lang="en-US" sz="850" dirty="0">
                <a:solidFill>
                  <a:srgbClr val="16222B"/>
                </a:solidFill>
                <a:latin typeface="Courier New" pitchFamily="34" charset="0"/>
                <a:ea typeface="Courier New" pitchFamily="34" charset="-122"/>
                <a:cs typeface="Courier New" pitchFamily="34" charset="-120"/>
              </a:rPr>
              <a:t>pricing_snapshot</a:t>
            </a:r>
            <a:endParaRPr lang="en-US" sz="1000" dirty="0"/>
          </a:p>
          <a:p>
            <a:pPr indent="0" marL="0">
              <a:buNone/>
            </a:pPr>
            <a:r>
              <a:rPr lang="en-US" sz="850" dirty="0">
                <a:solidFill>
                  <a:srgbClr val="16222B"/>
                </a:solidFill>
                <a:latin typeface="Courier New" pitchFamily="34" charset="0"/>
                <a:ea typeface="Courier New" pitchFamily="34" charset="-122"/>
                <a:cs typeface="Courier New" pitchFamily="34" charset="-120"/>
              </a:rPr>
              <a:t>recent_news_pulse</a:t>
            </a:r>
            <a:endParaRPr lang="en-US" sz="1000" dirty="0"/>
          </a:p>
        </p:txBody>
      </p:sp>
      <p:sp>
        <p:nvSpPr>
          <p:cNvPr id="23" name="Shape 21"/>
          <p:cNvSpPr/>
          <p:nvPr/>
        </p:nvSpPr>
        <p:spPr>
          <a:xfrm>
            <a:off x="4206240" y="2971800"/>
            <a:ext cx="2286000" cy="411480"/>
          </a:xfrm>
          <a:prstGeom prst="roundRect">
            <a:avLst>
              <a:gd name="adj" fmla="val 13333"/>
            </a:avLst>
          </a:prstGeom>
          <a:solidFill>
            <a:srgbClr val="FFFFFF"/>
          </a:solidFill>
          <a:ln w="12700">
            <a:solidFill>
              <a:srgbClr val="6A4C93"/>
            </a:solidFill>
            <a:prstDash val="solid"/>
          </a:ln>
        </p:spPr>
      </p:sp>
      <p:sp>
        <p:nvSpPr>
          <p:cNvPr id="24" name="Text 22"/>
          <p:cNvSpPr txBox="1"/>
          <p:nvPr/>
        </p:nvSpPr>
        <p:spPr>
          <a:xfrm>
            <a:off x="4206240" y="2971800"/>
            <a:ext cx="2286000" cy="411480"/>
          </a:xfrm>
          <a:prstGeom prst="rect">
            <a:avLst/>
          </a:prstGeom>
          <a:noFill/>
          <a:ln/>
        </p:spPr>
        <p:txBody>
          <a:bodyPr wrap="square" lIns="0" tIns="0" rIns="0" bIns="0" rtlCol="0" anchor="ctr"/>
          <a:lstStyle/>
          <a:p>
            <a:pPr algn="ctr" indent="0" marL="0">
              <a:buNone/>
            </a:pPr>
            <a:r>
              <a:rPr lang="en-US" sz="900" b="1" dirty="0">
                <a:solidFill>
                  <a:srgbClr val="6A4C93"/>
                </a:solidFill>
                <a:latin typeface="Calibri" pitchFamily="34" charset="0"/>
                <a:ea typeface="Calibri" pitchFamily="34" charset="-122"/>
                <a:cs typeface="Calibri" pitchFamily="34" charset="-120"/>
              </a:rPr>
              <a:t>RESOURCE  ·  1</a:t>
            </a:r>
            <a:endParaRPr lang="en-US" sz="900" dirty="0"/>
          </a:p>
          <a:p>
            <a:pPr algn="ctr" indent="0" marL="0">
              <a:buNone/>
            </a:pPr>
            <a:r>
              <a:rPr lang="en-US" sz="800" dirty="0">
                <a:solidFill>
                  <a:srgbClr val="16222B"/>
                </a:solidFill>
                <a:latin typeface="Courier New" pitchFamily="34" charset="0"/>
                <a:ea typeface="Courier New" pitchFamily="34" charset="-122"/>
                <a:cs typeface="Courier New" pitchFamily="34" charset="-120"/>
              </a:rPr>
              <a:t>resource://market/topics</a:t>
            </a:r>
            <a:endParaRPr lang="en-US" sz="900" dirty="0"/>
          </a:p>
        </p:txBody>
      </p:sp>
      <p:sp>
        <p:nvSpPr>
          <p:cNvPr id="25" name="Shape 23"/>
          <p:cNvSpPr/>
          <p:nvPr/>
        </p:nvSpPr>
        <p:spPr>
          <a:xfrm>
            <a:off x="4206240" y="3474720"/>
            <a:ext cx="2286000" cy="411480"/>
          </a:xfrm>
          <a:prstGeom prst="roundRect">
            <a:avLst>
              <a:gd name="adj" fmla="val 13333"/>
            </a:avLst>
          </a:prstGeom>
          <a:solidFill>
            <a:srgbClr val="FFFFFF"/>
          </a:solidFill>
          <a:ln w="12700">
            <a:solidFill>
              <a:srgbClr val="6A4C93"/>
            </a:solidFill>
            <a:prstDash val="solid"/>
          </a:ln>
        </p:spPr>
      </p:sp>
      <p:sp>
        <p:nvSpPr>
          <p:cNvPr id="26" name="Text 24"/>
          <p:cNvSpPr txBox="1"/>
          <p:nvPr/>
        </p:nvSpPr>
        <p:spPr>
          <a:xfrm>
            <a:off x="4206240" y="3474720"/>
            <a:ext cx="2286000" cy="411480"/>
          </a:xfrm>
          <a:prstGeom prst="rect">
            <a:avLst/>
          </a:prstGeom>
          <a:noFill/>
          <a:ln/>
        </p:spPr>
        <p:txBody>
          <a:bodyPr wrap="square" lIns="0" tIns="0" rIns="0" bIns="0" rtlCol="0" anchor="ctr"/>
          <a:lstStyle/>
          <a:p>
            <a:pPr algn="ctr" indent="0" marL="0">
              <a:buNone/>
            </a:pPr>
            <a:r>
              <a:rPr lang="en-US" sz="900" b="1" dirty="0">
                <a:solidFill>
                  <a:srgbClr val="6A4C93"/>
                </a:solidFill>
                <a:latin typeface="Calibri" pitchFamily="34" charset="0"/>
                <a:ea typeface="Calibri" pitchFamily="34" charset="-122"/>
                <a:cs typeface="Calibri" pitchFamily="34" charset="-120"/>
              </a:rPr>
              <a:t>PROMPT  ·  1</a:t>
            </a:r>
            <a:endParaRPr lang="en-US" sz="900" dirty="0"/>
          </a:p>
          <a:p>
            <a:pPr algn="ctr" indent="0" marL="0">
              <a:buNone/>
            </a:pPr>
            <a:r>
              <a:rPr lang="en-US" sz="800" dirty="0">
                <a:solidFill>
                  <a:srgbClr val="16222B"/>
                </a:solidFill>
                <a:latin typeface="Courier New" pitchFamily="34" charset="0"/>
                <a:ea typeface="Courier New" pitchFamily="34" charset="-122"/>
                <a:cs typeface="Courier New" pitchFamily="34" charset="-120"/>
              </a:rPr>
              <a:t>competitor_analysis_prompt</a:t>
            </a:r>
            <a:endParaRPr lang="en-US" sz="900" dirty="0"/>
          </a:p>
        </p:txBody>
      </p:sp>
      <p:sp>
        <p:nvSpPr>
          <p:cNvPr id="27" name="Shape 25"/>
          <p:cNvSpPr/>
          <p:nvPr/>
        </p:nvSpPr>
        <p:spPr>
          <a:xfrm>
            <a:off x="4206240" y="3977640"/>
            <a:ext cx="2286000" cy="411480"/>
          </a:xfrm>
          <a:prstGeom prst="roundRect">
            <a:avLst>
              <a:gd name="adj" fmla="val 13333"/>
            </a:avLst>
          </a:prstGeom>
          <a:solidFill>
            <a:srgbClr val="6A4C93"/>
          </a:solidFill>
          <a:ln w="12700">
            <a:solidFill>
              <a:srgbClr val="6A4C93"/>
            </a:solidFill>
            <a:prstDash val="solid"/>
          </a:ln>
        </p:spPr>
      </p:sp>
      <p:sp>
        <p:nvSpPr>
          <p:cNvPr id="28" name="Text 26"/>
          <p:cNvSpPr txBox="1"/>
          <p:nvPr/>
        </p:nvSpPr>
        <p:spPr>
          <a:xfrm>
            <a:off x="4206240" y="3977640"/>
            <a:ext cx="2286000" cy="41148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_tsearch()</a:t>
            </a:r>
            <a:endParaRPr lang="en-US" sz="900" dirty="0"/>
          </a:p>
          <a:p>
            <a:pPr algn="ctr" indent="0" marL="0">
              <a:buNone/>
            </a:pPr>
            <a:r>
              <a:rPr lang="en-US" sz="850" dirty="0">
                <a:solidFill>
                  <a:srgbClr val="E7DDF3"/>
                </a:solidFill>
                <a:latin typeface="Calibri" pitchFamily="34" charset="0"/>
                <a:ea typeface="Calibri" pitchFamily="34" charset="-122"/>
                <a:cs typeface="Calibri" pitchFamily="34" charset="-120"/>
              </a:rPr>
              <a:t>helper that calls Tavily</a:t>
            </a:r>
            <a:endParaRPr lang="en-US" sz="900" dirty="0"/>
          </a:p>
        </p:txBody>
      </p:sp>
      <p:sp>
        <p:nvSpPr>
          <p:cNvPr id="29" name="Shape 27"/>
          <p:cNvSpPr/>
          <p:nvPr/>
        </p:nvSpPr>
        <p:spPr>
          <a:xfrm>
            <a:off x="7406640" y="960120"/>
            <a:ext cx="1417320" cy="1325880"/>
          </a:xfrm>
          <a:prstGeom prst="roundRect">
            <a:avLst>
              <a:gd name="adj" fmla="val 5517"/>
            </a:avLst>
          </a:prstGeom>
          <a:solidFill>
            <a:srgbClr val="FFFFFF"/>
          </a:solidFill>
          <a:ln w="12700">
            <a:solidFill>
              <a:srgbClr val="9AA7B3"/>
            </a:solidFill>
            <a:prstDash val="dash"/>
          </a:ln>
        </p:spPr>
      </p:sp>
      <p:pic>
        <p:nvPicPr>
          <p:cNvPr id="30" name="Image 0" descr="preencoded.png">    </p:cNvPr>
          <p:cNvPicPr>
            <a:picLocks noChangeAspect="1"/>
          </p:cNvPicPr>
          <p:nvPr/>
        </p:nvPicPr>
        <p:blipFill>
          <a:blip r:embed="rId1"/>
          <a:stretch>
            <a:fillRect/>
          </a:stretch>
        </p:blipFill>
        <p:spPr>
          <a:xfrm>
            <a:off x="8001000" y="1078992"/>
            <a:ext cx="365760" cy="365760"/>
          </a:xfrm>
          <a:prstGeom prst="rect">
            <a:avLst/>
          </a:prstGeom>
        </p:spPr>
      </p:pic>
      <p:sp>
        <p:nvSpPr>
          <p:cNvPr id="31" name="Text 28"/>
          <p:cNvSpPr txBox="1"/>
          <p:nvPr/>
        </p:nvSpPr>
        <p:spPr>
          <a:xfrm>
            <a:off x="7498080" y="1508760"/>
            <a:ext cx="1234440" cy="731520"/>
          </a:xfrm>
          <a:prstGeom prst="rect">
            <a:avLst/>
          </a:prstGeom>
          <a:noFill/>
          <a:ln/>
        </p:spPr>
        <p:txBody>
          <a:bodyPr wrap="square" lIns="0" tIns="0" rIns="0" bIns="0" rtlCol="0" anchor="t"/>
          <a:lstStyle/>
          <a:p>
            <a:pPr algn="ctr" indent="0" marL="0">
              <a:buNone/>
            </a:pPr>
            <a:r>
              <a:rPr lang="en-US" sz="1200" b="1" dirty="0">
                <a:solidFill>
                  <a:srgbClr val="16222B"/>
                </a:solidFill>
                <a:latin typeface="Calibri" pitchFamily="34" charset="0"/>
                <a:ea typeface="Calibri" pitchFamily="34" charset="-122"/>
                <a:cs typeface="Calibri" pitchFamily="34" charset="-120"/>
              </a:rPr>
              <a:t>Public web</a:t>
            </a:r>
            <a:endParaRPr lang="en-US" sz="1200" dirty="0"/>
          </a:p>
          <a:p>
            <a:pPr algn="ctr" indent="0" marL="0">
              <a:buNone/>
            </a:pPr>
            <a:r>
              <a:rPr lang="en-US" sz="900" dirty="0">
                <a:solidFill>
                  <a:srgbClr val="4A5A6A"/>
                </a:solidFill>
                <a:latin typeface="Calibri" pitchFamily="34" charset="0"/>
                <a:ea typeface="Calibri" pitchFamily="34" charset="-122"/>
                <a:cs typeface="Calibri" pitchFamily="34" charset="-120"/>
              </a:rPr>
              <a:t>filings, news, pricing and product pages</a:t>
            </a:r>
            <a:endParaRPr lang="en-US" sz="1200" dirty="0"/>
          </a:p>
        </p:txBody>
      </p:sp>
      <p:sp>
        <p:nvSpPr>
          <p:cNvPr id="32" name="Shape 29"/>
          <p:cNvSpPr/>
          <p:nvPr/>
        </p:nvSpPr>
        <p:spPr>
          <a:xfrm>
            <a:off x="7406640" y="2743200"/>
            <a:ext cx="1417320" cy="1783080"/>
          </a:xfrm>
          <a:prstGeom prst="roundRect">
            <a:avLst>
              <a:gd name="adj" fmla="val 5161"/>
            </a:avLst>
          </a:prstGeom>
          <a:solidFill>
            <a:srgbClr val="E9EDF1"/>
          </a:solidFill>
          <a:ln w="19050">
            <a:solidFill>
              <a:srgbClr val="4A5A6A"/>
            </a:solidFill>
            <a:prstDash val="solid"/>
          </a:ln>
        </p:spPr>
      </p:sp>
      <p:sp>
        <p:nvSpPr>
          <p:cNvPr id="33" name="Text 30"/>
          <p:cNvSpPr txBox="1"/>
          <p:nvPr/>
        </p:nvSpPr>
        <p:spPr>
          <a:xfrm>
            <a:off x="7406640" y="2816352"/>
            <a:ext cx="1417320" cy="201168"/>
          </a:xfrm>
          <a:prstGeom prst="rect">
            <a:avLst/>
          </a:prstGeom>
          <a:noFill/>
          <a:ln/>
        </p:spPr>
        <p:txBody>
          <a:bodyPr wrap="square" lIns="0" tIns="0" rIns="0" bIns="0" rtlCol="0" anchor="ctr"/>
          <a:lstStyle/>
          <a:p>
            <a:pPr algn="ctr" indent="0" marL="0">
              <a:buNone/>
            </a:pPr>
            <a:r>
              <a:rPr lang="en-US" sz="900" b="1" dirty="0">
                <a:solidFill>
                  <a:srgbClr val="4A5A6A"/>
                </a:solidFill>
                <a:latin typeface="Calibri" pitchFamily="34" charset="0"/>
                <a:ea typeface="Calibri" pitchFamily="34" charset="-122"/>
                <a:cs typeface="Calibri" pitchFamily="34" charset="-120"/>
              </a:rPr>
              <a:t>EXTERNAL API</a:t>
            </a:r>
            <a:endParaRPr lang="en-US" sz="900" dirty="0"/>
          </a:p>
        </p:txBody>
      </p:sp>
      <p:sp>
        <p:nvSpPr>
          <p:cNvPr id="34" name="Shape 31"/>
          <p:cNvSpPr/>
          <p:nvPr/>
        </p:nvSpPr>
        <p:spPr>
          <a:xfrm>
            <a:off x="7909560" y="3072384"/>
            <a:ext cx="411480" cy="411480"/>
          </a:xfrm>
          <a:prstGeom prst="ellipse">
            <a:avLst/>
          </a:prstGeom>
          <a:solidFill>
            <a:srgbClr val="4A5A6A"/>
          </a:solidFill>
          <a:ln w="12700">
            <a:solidFill>
              <a:srgbClr val="4A5A6A"/>
            </a:solidFill>
            <a:prstDash val="solid"/>
          </a:ln>
        </p:spPr>
      </p:sp>
      <p:pic>
        <p:nvPicPr>
          <p:cNvPr id="35" name="Image 1" descr="preencoded.png">    </p:cNvPr>
          <p:cNvPicPr>
            <a:picLocks noChangeAspect="1"/>
          </p:cNvPicPr>
          <p:nvPr/>
        </p:nvPicPr>
        <p:blipFill>
          <a:blip r:embed="rId2"/>
          <a:stretch>
            <a:fillRect/>
          </a:stretch>
        </p:blipFill>
        <p:spPr>
          <a:xfrm>
            <a:off x="8016545" y="3179369"/>
            <a:ext cx="197510" cy="197510"/>
          </a:xfrm>
          <a:prstGeom prst="rect">
            <a:avLst/>
          </a:prstGeom>
        </p:spPr>
      </p:pic>
      <p:sp>
        <p:nvSpPr>
          <p:cNvPr id="36" name="Text 32"/>
          <p:cNvSpPr txBox="1"/>
          <p:nvPr/>
        </p:nvSpPr>
        <p:spPr>
          <a:xfrm>
            <a:off x="7406640" y="3547872"/>
            <a:ext cx="1417320" cy="256032"/>
          </a:xfrm>
          <a:prstGeom prst="rect">
            <a:avLst/>
          </a:prstGeom>
          <a:noFill/>
          <a:ln/>
        </p:spPr>
        <p:txBody>
          <a:bodyPr wrap="square" lIns="0" tIns="0" rIns="0" bIns="0" rtlCol="0" anchor="ctr"/>
          <a:lstStyle/>
          <a:p>
            <a:pPr algn="ctr" indent="0" marL="0">
              <a:buNone/>
            </a:pPr>
            <a:r>
              <a:rPr lang="en-US" sz="1400" b="1" dirty="0">
                <a:solidFill>
                  <a:srgbClr val="16222B"/>
                </a:solidFill>
                <a:latin typeface="Calibri" pitchFamily="34" charset="0"/>
                <a:ea typeface="Calibri" pitchFamily="34" charset="-122"/>
                <a:cs typeface="Calibri" pitchFamily="34" charset="-120"/>
              </a:rPr>
              <a:t>Tavily</a:t>
            </a:r>
            <a:endParaRPr lang="en-US" sz="1400" dirty="0"/>
          </a:p>
        </p:txBody>
      </p:sp>
      <p:sp>
        <p:nvSpPr>
          <p:cNvPr id="37" name="Text 33"/>
          <p:cNvSpPr txBox="1"/>
          <p:nvPr/>
        </p:nvSpPr>
        <p:spPr>
          <a:xfrm>
            <a:off x="7406640" y="3794760"/>
            <a:ext cx="1417320" cy="182880"/>
          </a:xfrm>
          <a:prstGeom prst="rect">
            <a:avLst/>
          </a:prstGeom>
          <a:noFill/>
          <a:ln/>
        </p:spPr>
        <p:txBody>
          <a:bodyPr wrap="square" lIns="0" tIns="0" rIns="0" bIns="0" rtlCol="0" anchor="ctr"/>
          <a:lstStyle/>
          <a:p>
            <a:pPr algn="ctr" indent="0" marL="0">
              <a:buNone/>
            </a:pPr>
            <a:r>
              <a:rPr lang="en-US" sz="1000" dirty="0">
                <a:solidFill>
                  <a:srgbClr val="4A5A6A"/>
                </a:solidFill>
                <a:latin typeface="Calibri" pitchFamily="34" charset="0"/>
                <a:ea typeface="Calibri" pitchFamily="34" charset="-122"/>
                <a:cs typeface="Calibri" pitchFamily="34" charset="-120"/>
              </a:rPr>
              <a:t>Web search API</a:t>
            </a:r>
            <a:endParaRPr lang="en-US" sz="1000" dirty="0"/>
          </a:p>
        </p:txBody>
      </p:sp>
      <p:sp>
        <p:nvSpPr>
          <p:cNvPr id="38" name="Text 34"/>
          <p:cNvSpPr txBox="1"/>
          <p:nvPr/>
        </p:nvSpPr>
        <p:spPr>
          <a:xfrm>
            <a:off x="7406640" y="4023360"/>
            <a:ext cx="1417320" cy="365760"/>
          </a:xfrm>
          <a:prstGeom prst="rect">
            <a:avLst/>
          </a:prstGeom>
          <a:noFill/>
          <a:ln/>
        </p:spPr>
        <p:txBody>
          <a:bodyPr wrap="square" lIns="0" tIns="0" rIns="0" bIns="0" rtlCol="0" anchor="ctr"/>
          <a:lstStyle/>
          <a:p>
            <a:pPr algn="ctr" indent="0" marL="0">
              <a:buNone/>
            </a:pPr>
            <a:r>
              <a:rPr lang="en-US" sz="850" dirty="0">
                <a:solidFill>
                  <a:srgbClr val="16222B"/>
                </a:solidFill>
                <a:latin typeface="Courier New" pitchFamily="34" charset="0"/>
                <a:ea typeface="Courier New" pitchFamily="34" charset="-122"/>
                <a:cs typeface="Courier New" pitchFamily="34" charset="-120"/>
              </a:rPr>
              <a:t>search()</a:t>
            </a:r>
            <a:endParaRPr lang="en-US" sz="850" dirty="0"/>
          </a:p>
          <a:p>
            <a:pPr algn="ctr" indent="0" marL="0">
              <a:buNone/>
            </a:pPr>
            <a:r>
              <a:rPr lang="en-US" sz="850" dirty="0">
                <a:solidFill>
                  <a:srgbClr val="16222B"/>
                </a:solidFill>
                <a:latin typeface="Courier New" pitchFamily="34" charset="0"/>
                <a:ea typeface="Courier New" pitchFamily="34" charset="-122"/>
                <a:cs typeface="Courier New" pitchFamily="34" charset="-120"/>
              </a:rPr>
              <a:t>extract()</a:t>
            </a:r>
            <a:endParaRPr lang="en-US" sz="850" dirty="0"/>
          </a:p>
        </p:txBody>
      </p:sp>
      <p:sp>
        <p:nvSpPr>
          <p:cNvPr id="39" name="Shape 35"/>
          <p:cNvSpPr/>
          <p:nvPr/>
        </p:nvSpPr>
        <p:spPr>
          <a:xfrm>
            <a:off x="8115300" y="2286000"/>
            <a:ext cx="0" cy="457200"/>
          </a:xfrm>
          <a:prstGeom prst="line">
            <a:avLst/>
          </a:prstGeom>
          <a:noFill/>
          <a:ln w="22225">
            <a:solidFill>
              <a:srgbClr val="4A5A6A"/>
            </a:solidFill>
            <a:prstDash val="solid"/>
            <a:headEnd type="triangle"/>
            <a:tailEnd type="triangle"/>
          </a:ln>
        </p:spPr>
      </p:sp>
      <p:sp>
        <p:nvSpPr>
          <p:cNvPr id="40" name="Shape 36"/>
          <p:cNvSpPr/>
          <p:nvPr/>
        </p:nvSpPr>
        <p:spPr>
          <a:xfrm>
            <a:off x="2971800" y="3383280"/>
            <a:ext cx="1097280" cy="0"/>
          </a:xfrm>
          <a:prstGeom prst="line">
            <a:avLst/>
          </a:prstGeom>
          <a:noFill/>
          <a:ln w="22225">
            <a:solidFill>
              <a:srgbClr val="B7791F"/>
            </a:solidFill>
            <a:prstDash val="solid"/>
            <a:headEnd type="triangle"/>
            <a:tailEnd type="triangle"/>
          </a:ln>
        </p:spPr>
      </p:sp>
      <p:sp>
        <p:nvSpPr>
          <p:cNvPr id="41" name="Text 37"/>
          <p:cNvSpPr txBox="1"/>
          <p:nvPr/>
        </p:nvSpPr>
        <p:spPr>
          <a:xfrm>
            <a:off x="3200400" y="2880360"/>
            <a:ext cx="822960" cy="438912"/>
          </a:xfrm>
          <a:prstGeom prst="rect">
            <a:avLst/>
          </a:prstGeom>
          <a:noFill/>
          <a:ln/>
        </p:spPr>
        <p:txBody>
          <a:bodyPr wrap="square" lIns="0" tIns="0" rIns="0" bIns="0" rtlCol="0" anchor="ctr"/>
          <a:lstStyle/>
          <a:p>
            <a:pPr algn="ctr" indent="0" marL="0">
              <a:buNone/>
            </a:pPr>
            <a:r>
              <a:rPr lang="en-US" sz="1100" b="1" dirty="0">
                <a:solidFill>
                  <a:srgbClr val="B7791F"/>
                </a:solidFill>
                <a:latin typeface="Calibri" pitchFamily="34" charset="0"/>
                <a:ea typeface="Calibri" pitchFamily="34" charset="-122"/>
                <a:cs typeface="Calibri" pitchFamily="34" charset="-120"/>
              </a:rPr>
              <a:t>MCP</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JSON-RPC</a:t>
            </a:r>
            <a:endParaRPr lang="en-US" sz="900" dirty="0"/>
          </a:p>
        </p:txBody>
      </p:sp>
      <p:sp>
        <p:nvSpPr>
          <p:cNvPr id="42" name="Text 38"/>
          <p:cNvSpPr txBox="1"/>
          <p:nvPr/>
        </p:nvSpPr>
        <p:spPr>
          <a:xfrm>
            <a:off x="3200400" y="3438144"/>
            <a:ext cx="822960" cy="320040"/>
          </a:xfrm>
          <a:prstGeom prst="rect">
            <a:avLst/>
          </a:prstGeom>
          <a:noFill/>
          <a:ln/>
        </p:spPr>
        <p:txBody>
          <a:bodyPr wrap="square" lIns="0" tIns="0" rIns="0" bIns="0" rtlCol="0" anchor="ctr"/>
          <a:lstStyle/>
          <a:p>
            <a:pPr algn="ctr" indent="0" marL="0">
              <a:buNone/>
            </a:pPr>
            <a:r>
              <a:rPr lang="en-US" sz="900" dirty="0">
                <a:solidFill>
                  <a:srgbClr val="4A5A6A"/>
                </a:solidFill>
                <a:latin typeface="Calibri" pitchFamily="34" charset="0"/>
                <a:ea typeface="Calibri" pitchFamily="34" charset="-122"/>
                <a:cs typeface="Calibri" pitchFamily="34" charset="-120"/>
              </a:rPr>
              <a:t>over HTTP + SSE</a:t>
            </a:r>
            <a:endParaRPr lang="en-US" sz="900" dirty="0"/>
          </a:p>
        </p:txBody>
      </p:sp>
      <p:sp>
        <p:nvSpPr>
          <p:cNvPr id="43" name="Shape 39"/>
          <p:cNvSpPr/>
          <p:nvPr/>
        </p:nvSpPr>
        <p:spPr>
          <a:xfrm>
            <a:off x="6492240" y="4183380"/>
            <a:ext cx="914400" cy="0"/>
          </a:xfrm>
          <a:prstGeom prst="line">
            <a:avLst/>
          </a:prstGeom>
          <a:noFill/>
          <a:ln w="22225">
            <a:solidFill>
              <a:srgbClr val="4A5A6A"/>
            </a:solidFill>
            <a:prstDash val="solid"/>
            <a:headEnd type="triangle"/>
            <a:tailEnd type="triangle"/>
          </a:ln>
        </p:spPr>
      </p:sp>
      <p:sp>
        <p:nvSpPr>
          <p:cNvPr id="44" name="Text 40"/>
          <p:cNvSpPr txBox="1"/>
          <p:nvPr/>
        </p:nvSpPr>
        <p:spPr>
          <a:xfrm>
            <a:off x="6647688" y="3685032"/>
            <a:ext cx="731520" cy="438912"/>
          </a:xfrm>
          <a:prstGeom prst="rect">
            <a:avLst/>
          </a:prstGeom>
          <a:noFill/>
          <a:ln/>
        </p:spPr>
        <p:txBody>
          <a:bodyPr wrap="square" lIns="0" tIns="0" rIns="0" bIns="0" rtlCol="0" anchor="ctr"/>
          <a:lstStyle/>
          <a:p>
            <a:pPr algn="ctr" indent="0" marL="0">
              <a:buNone/>
            </a:pPr>
            <a:r>
              <a:rPr lang="en-US" sz="1000" b="1" dirty="0">
                <a:solidFill>
                  <a:srgbClr val="4A5A6A"/>
                </a:solidFill>
                <a:latin typeface="Calibri" pitchFamily="34" charset="0"/>
                <a:ea typeface="Calibri" pitchFamily="34" charset="-122"/>
                <a:cs typeface="Calibri" pitchFamily="34" charset="-120"/>
              </a:rPr>
              <a:t>HTTPS</a:t>
            </a:r>
            <a:endParaRPr lang="en-US" sz="900" dirty="0"/>
          </a:p>
          <a:p>
            <a:pPr algn="ctr" indent="0" marL="0">
              <a:buNone/>
            </a:pPr>
            <a:r>
              <a:rPr lang="en-US" sz="900" dirty="0">
                <a:solidFill>
                  <a:srgbClr val="4A5A6A"/>
                </a:solidFill>
                <a:latin typeface="Calibri" pitchFamily="34" charset="0"/>
                <a:ea typeface="Calibri" pitchFamily="34" charset="-122"/>
                <a:cs typeface="Calibri" pitchFamily="34" charset="-120"/>
              </a:rPr>
              <a:t>+ API key</a:t>
            </a:r>
            <a:endParaRPr lang="en-US" sz="900" dirty="0"/>
          </a:p>
        </p:txBody>
      </p:sp>
      <p:sp>
        <p:nvSpPr>
          <p:cNvPr id="45" name="Text 41"/>
          <p:cNvSpPr txBox="1"/>
          <p:nvPr/>
        </p:nvSpPr>
        <p:spPr>
          <a:xfrm>
            <a:off x="320040" y="4617720"/>
            <a:ext cx="8503920" cy="274320"/>
          </a:xfrm>
          <a:prstGeom prst="rect">
            <a:avLst/>
          </a:prstGeom>
          <a:noFill/>
          <a:ln/>
        </p:spPr>
        <p:txBody>
          <a:bodyPr wrap="square" lIns="0" tIns="0" rIns="0" bIns="0" rtlCol="0" anchor="ctr"/>
          <a:lstStyle/>
          <a:p>
            <a:pPr indent="0" marL="0">
              <a:buNone/>
            </a:pPr>
            <a:r>
              <a:rPr lang="en-US" sz="1100" i="1" dirty="0">
                <a:solidFill>
                  <a:srgbClr val="4A5A6A"/>
                </a:solidFill>
                <a:latin typeface="Calibri" pitchFamily="34" charset="0"/>
                <a:ea typeface="Calibri" pitchFamily="34" charset="-122"/>
                <a:cs typeface="Calibri" pitchFamily="34" charset="-120"/>
              </a:rPr>
              <a:t>The host contains the client. MCP covers only Cursor to MarketIntel; MarketIntel reaches Tavily through its Python SDK over HTTPS.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9"/>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3200" b="1" dirty="0">
                <a:solidFill>
                  <a:srgbClr val="16222B"/>
                </a:solidFill>
                <a:latin typeface="Cambria" pitchFamily="34" charset="0"/>
                <a:ea typeface="Cambria" pitchFamily="34" charset="-122"/>
                <a:cs typeface="Cambria" pitchFamily="34" charset="-120"/>
              </a:rPr>
              <a:t>What MarketIntel exposes</a:t>
            </a:r>
            <a:endParaRPr lang="en-US" sz="3200" dirty="0"/>
          </a:p>
        </p:txBody>
      </p:sp>
      <p:sp>
        <p:nvSpPr>
          <p:cNvPr id="3" name="Shape 1"/>
          <p:cNvSpPr/>
          <p:nvPr/>
        </p:nvSpPr>
        <p:spPr>
          <a:xfrm>
            <a:off x="457200" y="1051560"/>
            <a:ext cx="5074920" cy="3611880"/>
          </a:xfrm>
          <a:prstGeom prst="roundRect">
            <a:avLst>
              <a:gd name="adj" fmla="val 2025"/>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58368" y="1188720"/>
            <a:ext cx="402336" cy="402336"/>
          </a:xfrm>
          <a:prstGeom prst="ellipse">
            <a:avLst/>
          </a:prstGeom>
          <a:solidFill>
            <a:srgbClr val="6A4C93"/>
          </a:solidFill>
          <a:ln w="12700">
            <a:solidFill>
              <a:srgbClr val="6A4C93"/>
            </a:solidFill>
            <a:prstDash val="solid"/>
          </a:ln>
        </p:spPr>
      </p:sp>
      <p:pic>
        <p:nvPicPr>
          <p:cNvPr id="5" name="Image 0" descr="preencoded.png">    </p:cNvPr>
          <p:cNvPicPr>
            <a:picLocks noChangeAspect="1"/>
          </p:cNvPicPr>
          <p:nvPr/>
        </p:nvPicPr>
        <p:blipFill>
          <a:blip r:embed="rId1"/>
          <a:stretch>
            <a:fillRect/>
          </a:stretch>
        </p:blipFill>
        <p:spPr>
          <a:xfrm>
            <a:off x="762975" y="1293327"/>
            <a:ext cx="193121" cy="193121"/>
          </a:xfrm>
          <a:prstGeom prst="rect">
            <a:avLst/>
          </a:prstGeom>
        </p:spPr>
      </p:pic>
      <p:sp>
        <p:nvSpPr>
          <p:cNvPr id="6" name="Text 3"/>
          <p:cNvSpPr txBox="1"/>
          <p:nvPr/>
        </p:nvSpPr>
        <p:spPr>
          <a:xfrm>
            <a:off x="1188720" y="1161288"/>
            <a:ext cx="4114800" cy="292608"/>
          </a:xfrm>
          <a:prstGeom prst="rect">
            <a:avLst/>
          </a:prstGeom>
          <a:noFill/>
          <a:ln/>
        </p:spPr>
        <p:txBody>
          <a:bodyPr wrap="square" lIns="0" tIns="0" rIns="0" bIns="0" rtlCol="0" anchor="ctr"/>
          <a:lstStyle/>
          <a:p>
            <a:pPr indent="0" marL="0">
              <a:buNone/>
            </a:pPr>
            <a:r>
              <a:rPr lang="en-US" sz="1800" b="1" dirty="0">
                <a:solidFill>
                  <a:srgbClr val="16222B"/>
                </a:solidFill>
                <a:latin typeface="Cambria" pitchFamily="34" charset="0"/>
                <a:ea typeface="Cambria" pitchFamily="34" charset="-122"/>
                <a:cs typeface="Cambria" pitchFamily="34" charset="-120"/>
              </a:rPr>
              <a:t>Tools  ·  5</a:t>
            </a:r>
            <a:endParaRPr lang="en-US" sz="1800" dirty="0"/>
          </a:p>
        </p:txBody>
      </p:sp>
      <p:sp>
        <p:nvSpPr>
          <p:cNvPr id="7" name="Text 4"/>
          <p:cNvSpPr txBox="1"/>
          <p:nvPr/>
        </p:nvSpPr>
        <p:spPr>
          <a:xfrm>
            <a:off x="1188720" y="1463040"/>
            <a:ext cx="4206240" cy="228600"/>
          </a:xfrm>
          <a:prstGeom prst="rect">
            <a:avLst/>
          </a:prstGeom>
          <a:noFill/>
          <a:ln/>
        </p:spPr>
        <p:txBody>
          <a:bodyPr wrap="square" lIns="0" tIns="0" rIns="0" bIns="0" rtlCol="0" anchor="ctr"/>
          <a:lstStyle/>
          <a:p>
            <a:pPr indent="0" marL="0">
              <a:buNone/>
            </a:pPr>
            <a:r>
              <a:rPr lang="en-US" sz="1100" dirty="0">
                <a:solidFill>
                  <a:srgbClr val="4A5A6A"/>
                </a:solidFill>
                <a:latin typeface="Calibri" pitchFamily="34" charset="0"/>
                <a:ea typeface="Calibri" pitchFamily="34" charset="-122"/>
                <a:cs typeface="Calibri" pitchFamily="34" charset="-120"/>
              </a:rPr>
              <a:t>Do the live work. Each one builds a query and calls Tavily via _tsearch().</a:t>
            </a:r>
            <a:endParaRPr lang="en-US" sz="1100" dirty="0"/>
          </a:p>
        </p:txBody>
      </p:sp>
      <p:sp>
        <p:nvSpPr>
          <p:cNvPr id="8" name="Text 5"/>
          <p:cNvSpPr txBox="1"/>
          <p:nvPr/>
        </p:nvSpPr>
        <p:spPr>
          <a:xfrm>
            <a:off x="658368" y="1847088"/>
            <a:ext cx="4663440" cy="457200"/>
          </a:xfrm>
          <a:prstGeom prst="rect">
            <a:avLst/>
          </a:prstGeom>
          <a:noFill/>
          <a:ln/>
        </p:spPr>
        <p:txBody>
          <a:bodyPr wrap="square" lIns="0" tIns="0" rIns="0" bIns="0" rtlCol="0" anchor="ctr"/>
          <a:lstStyle/>
          <a:p>
            <a:pPr indent="0" marL="0">
              <a:buNone/>
            </a:pPr>
            <a:r>
              <a:rPr lang="en-US" sz="1200" b="1" dirty="0">
                <a:solidFill>
                  <a:srgbClr val="6A4C93"/>
                </a:solidFill>
                <a:latin typeface="Courier New" pitchFamily="34" charset="0"/>
                <a:ea typeface="Courier New" pitchFamily="34" charset="-122"/>
                <a:cs typeface="Courier New" pitchFamily="34" charset="-120"/>
              </a:rPr>
              <a:t>company_overview</a:t>
            </a:r>
            <a:endParaRPr lang="en-US" sz="1200" dirty="0"/>
          </a:p>
          <a:p>
            <a:pPr indent="0" marL="0">
              <a:buNone/>
            </a:pPr>
            <a:r>
              <a:rPr lang="en-US" sz="1100" dirty="0">
                <a:solidFill>
                  <a:srgbClr val="4A5A6A"/>
                </a:solidFill>
                <a:latin typeface="Calibri" pitchFamily="34" charset="0"/>
                <a:ea typeface="Calibri" pitchFamily="34" charset="-122"/>
                <a:cs typeface="Calibri" pitchFamily="34" charset="-120"/>
              </a:rPr>
              <a:t>Founding, HQ, products, business model, recent news</a:t>
            </a:r>
            <a:endParaRPr lang="en-US" sz="1200" dirty="0"/>
          </a:p>
        </p:txBody>
      </p:sp>
      <p:sp>
        <p:nvSpPr>
          <p:cNvPr id="9" name="Shape 6"/>
          <p:cNvSpPr/>
          <p:nvPr/>
        </p:nvSpPr>
        <p:spPr>
          <a:xfrm>
            <a:off x="658368" y="2350008"/>
            <a:ext cx="4663440" cy="0"/>
          </a:xfrm>
          <a:prstGeom prst="line">
            <a:avLst/>
          </a:prstGeom>
          <a:noFill/>
          <a:ln w="9525">
            <a:solidFill>
              <a:srgbClr val="E3E8EC"/>
            </a:solidFill>
            <a:prstDash val="solid"/>
          </a:ln>
        </p:spPr>
      </p:sp>
      <p:sp>
        <p:nvSpPr>
          <p:cNvPr id="10" name="Text 7"/>
          <p:cNvSpPr txBox="1"/>
          <p:nvPr/>
        </p:nvSpPr>
        <p:spPr>
          <a:xfrm>
            <a:off x="658368" y="2395728"/>
            <a:ext cx="4663440" cy="457200"/>
          </a:xfrm>
          <a:prstGeom prst="rect">
            <a:avLst/>
          </a:prstGeom>
          <a:noFill/>
          <a:ln/>
        </p:spPr>
        <p:txBody>
          <a:bodyPr wrap="square" lIns="0" tIns="0" rIns="0" bIns="0" rtlCol="0" anchor="ctr"/>
          <a:lstStyle/>
          <a:p>
            <a:pPr indent="0" marL="0">
              <a:buNone/>
            </a:pPr>
            <a:r>
              <a:rPr lang="en-US" sz="1200" b="1" dirty="0">
                <a:solidFill>
                  <a:srgbClr val="6A4C93"/>
                </a:solidFill>
                <a:latin typeface="Courier New" pitchFamily="34" charset="0"/>
                <a:ea typeface="Courier New" pitchFamily="34" charset="-122"/>
                <a:cs typeface="Courier New" pitchFamily="34" charset="-120"/>
              </a:rPr>
              <a:t>list_competitors</a:t>
            </a:r>
            <a:endParaRPr lang="en-US" sz="1200" dirty="0"/>
          </a:p>
          <a:p>
            <a:pPr indent="0" marL="0">
              <a:buNone/>
            </a:pPr>
            <a:r>
              <a:rPr lang="en-US" sz="1100" dirty="0">
                <a:solidFill>
                  <a:srgbClr val="4A5A6A"/>
                </a:solidFill>
                <a:latin typeface="Calibri" pitchFamily="34" charset="0"/>
                <a:ea typeface="Calibri" pitchFamily="34" charset="-122"/>
                <a:cs typeface="Calibri" pitchFamily="34" charset="-120"/>
              </a:rPr>
              <a:t>Top rivals, filterable by category and region</a:t>
            </a:r>
            <a:endParaRPr lang="en-US" sz="1200" dirty="0"/>
          </a:p>
        </p:txBody>
      </p:sp>
      <p:sp>
        <p:nvSpPr>
          <p:cNvPr id="11" name="Shape 8"/>
          <p:cNvSpPr/>
          <p:nvPr/>
        </p:nvSpPr>
        <p:spPr>
          <a:xfrm>
            <a:off x="658368" y="2898648"/>
            <a:ext cx="4663440" cy="0"/>
          </a:xfrm>
          <a:prstGeom prst="line">
            <a:avLst/>
          </a:prstGeom>
          <a:noFill/>
          <a:ln w="9525">
            <a:solidFill>
              <a:srgbClr val="E3E8EC"/>
            </a:solidFill>
            <a:prstDash val="solid"/>
          </a:ln>
        </p:spPr>
      </p:sp>
      <p:sp>
        <p:nvSpPr>
          <p:cNvPr id="12" name="Text 9"/>
          <p:cNvSpPr txBox="1"/>
          <p:nvPr/>
        </p:nvSpPr>
        <p:spPr>
          <a:xfrm>
            <a:off x="658368" y="2944368"/>
            <a:ext cx="4663440" cy="457200"/>
          </a:xfrm>
          <a:prstGeom prst="rect">
            <a:avLst/>
          </a:prstGeom>
          <a:noFill/>
          <a:ln/>
        </p:spPr>
        <p:txBody>
          <a:bodyPr wrap="square" lIns="0" tIns="0" rIns="0" bIns="0" rtlCol="0" anchor="ctr"/>
          <a:lstStyle/>
          <a:p>
            <a:pPr indent="0" marL="0">
              <a:buNone/>
            </a:pPr>
            <a:r>
              <a:rPr lang="en-US" sz="1200" b="1" dirty="0">
                <a:solidFill>
                  <a:srgbClr val="6A4C93"/>
                </a:solidFill>
                <a:latin typeface="Courier New" pitchFamily="34" charset="0"/>
                <a:ea typeface="Courier New" pitchFamily="34" charset="-122"/>
                <a:cs typeface="Courier New" pitchFamily="34" charset="-120"/>
              </a:rPr>
              <a:t>product_portfolio</a:t>
            </a:r>
            <a:endParaRPr lang="en-US" sz="1200" dirty="0"/>
          </a:p>
          <a:p>
            <a:pPr indent="0" marL="0">
              <a:buNone/>
            </a:pPr>
            <a:r>
              <a:rPr lang="en-US" sz="1100" dirty="0">
                <a:solidFill>
                  <a:srgbClr val="4A5A6A"/>
                </a:solidFill>
                <a:latin typeface="Calibri" pitchFamily="34" charset="0"/>
                <a:ea typeface="Calibri" pitchFamily="34" charset="-122"/>
                <a:cs typeface="Calibri" pitchFamily="34" charset="-120"/>
              </a:rPr>
              <a:t>Product map; search plus extraction from product and pricing pages</a:t>
            </a:r>
            <a:endParaRPr lang="en-US" sz="1200" dirty="0"/>
          </a:p>
        </p:txBody>
      </p:sp>
      <p:sp>
        <p:nvSpPr>
          <p:cNvPr id="13" name="Shape 10"/>
          <p:cNvSpPr/>
          <p:nvPr/>
        </p:nvSpPr>
        <p:spPr>
          <a:xfrm>
            <a:off x="658368" y="3447288"/>
            <a:ext cx="4663440" cy="0"/>
          </a:xfrm>
          <a:prstGeom prst="line">
            <a:avLst/>
          </a:prstGeom>
          <a:noFill/>
          <a:ln w="9525">
            <a:solidFill>
              <a:srgbClr val="E3E8EC"/>
            </a:solidFill>
            <a:prstDash val="solid"/>
          </a:ln>
        </p:spPr>
      </p:sp>
      <p:sp>
        <p:nvSpPr>
          <p:cNvPr id="14" name="Text 11"/>
          <p:cNvSpPr txBox="1"/>
          <p:nvPr/>
        </p:nvSpPr>
        <p:spPr>
          <a:xfrm>
            <a:off x="658368" y="3493008"/>
            <a:ext cx="4663440" cy="457200"/>
          </a:xfrm>
          <a:prstGeom prst="rect">
            <a:avLst/>
          </a:prstGeom>
          <a:noFill/>
          <a:ln/>
        </p:spPr>
        <p:txBody>
          <a:bodyPr wrap="square" lIns="0" tIns="0" rIns="0" bIns="0" rtlCol="0" anchor="ctr"/>
          <a:lstStyle/>
          <a:p>
            <a:pPr indent="0" marL="0">
              <a:buNone/>
            </a:pPr>
            <a:r>
              <a:rPr lang="en-US" sz="1200" b="1" dirty="0">
                <a:solidFill>
                  <a:srgbClr val="6A4C93"/>
                </a:solidFill>
                <a:latin typeface="Courier New" pitchFamily="34" charset="0"/>
                <a:ea typeface="Courier New" pitchFamily="34" charset="-122"/>
                <a:cs typeface="Courier New" pitchFamily="34" charset="-120"/>
              </a:rPr>
              <a:t>pricing_snapshot</a:t>
            </a:r>
            <a:endParaRPr lang="en-US" sz="1200" dirty="0"/>
          </a:p>
          <a:p>
            <a:pPr indent="0" marL="0">
              <a:buNone/>
            </a:pPr>
            <a:r>
              <a:rPr lang="en-US" sz="1100" dirty="0">
                <a:solidFill>
                  <a:srgbClr val="4A5A6A"/>
                </a:solidFill>
                <a:latin typeface="Calibri" pitchFamily="34" charset="0"/>
                <a:ea typeface="Calibri" pitchFamily="34" charset="-122"/>
                <a:cs typeface="Calibri" pitchFamily="34" charset="-120"/>
              </a:rPr>
              <a:t>List price, tiers, billing cycles, discounts, hidden fees</a:t>
            </a:r>
            <a:endParaRPr lang="en-US" sz="1200" dirty="0"/>
          </a:p>
        </p:txBody>
      </p:sp>
      <p:sp>
        <p:nvSpPr>
          <p:cNvPr id="15" name="Shape 12"/>
          <p:cNvSpPr/>
          <p:nvPr/>
        </p:nvSpPr>
        <p:spPr>
          <a:xfrm>
            <a:off x="658368" y="3995928"/>
            <a:ext cx="4663440" cy="0"/>
          </a:xfrm>
          <a:prstGeom prst="line">
            <a:avLst/>
          </a:prstGeom>
          <a:noFill/>
          <a:ln w="9525">
            <a:solidFill>
              <a:srgbClr val="E3E8EC"/>
            </a:solidFill>
            <a:prstDash val="solid"/>
          </a:ln>
        </p:spPr>
      </p:sp>
      <p:sp>
        <p:nvSpPr>
          <p:cNvPr id="16" name="Text 13"/>
          <p:cNvSpPr txBox="1"/>
          <p:nvPr/>
        </p:nvSpPr>
        <p:spPr>
          <a:xfrm>
            <a:off x="658368" y="4041648"/>
            <a:ext cx="4663440" cy="457200"/>
          </a:xfrm>
          <a:prstGeom prst="rect">
            <a:avLst/>
          </a:prstGeom>
          <a:noFill/>
          <a:ln/>
        </p:spPr>
        <p:txBody>
          <a:bodyPr wrap="square" lIns="0" tIns="0" rIns="0" bIns="0" rtlCol="0" anchor="ctr"/>
          <a:lstStyle/>
          <a:p>
            <a:pPr indent="0" marL="0">
              <a:buNone/>
            </a:pPr>
            <a:r>
              <a:rPr lang="en-US" sz="1200" b="1" dirty="0">
                <a:solidFill>
                  <a:srgbClr val="6A4C93"/>
                </a:solidFill>
                <a:latin typeface="Courier New" pitchFamily="34" charset="0"/>
                <a:ea typeface="Courier New" pitchFamily="34" charset="-122"/>
                <a:cs typeface="Courier New" pitchFamily="34" charset="-120"/>
              </a:rPr>
              <a:t>recent_news_pulse</a:t>
            </a:r>
            <a:endParaRPr lang="en-US" sz="1200" dirty="0"/>
          </a:p>
          <a:p>
            <a:pPr indent="0" marL="0">
              <a:buNone/>
            </a:pPr>
            <a:r>
              <a:rPr lang="en-US" sz="1100" dirty="0">
                <a:solidFill>
                  <a:srgbClr val="4A5A6A"/>
                </a:solidFill>
                <a:latin typeface="Calibri" pitchFamily="34" charset="0"/>
                <a:ea typeface="Calibri" pitchFamily="34" charset="-122"/>
                <a:cs typeface="Calibri" pitchFamily="34" charset="-120"/>
              </a:rPr>
              <a:t>Last 30 days: funding, acquisitions, launches, leadership</a:t>
            </a:r>
            <a:endParaRPr lang="en-US" sz="1200" dirty="0"/>
          </a:p>
        </p:txBody>
      </p:sp>
      <p:sp>
        <p:nvSpPr>
          <p:cNvPr id="17" name="Shape 14"/>
          <p:cNvSpPr/>
          <p:nvPr/>
        </p:nvSpPr>
        <p:spPr>
          <a:xfrm>
            <a:off x="5715000" y="1051560"/>
            <a:ext cx="2971800" cy="1463040"/>
          </a:xfrm>
          <a:prstGeom prst="roundRect">
            <a:avLst>
              <a:gd name="adj" fmla="val 5000"/>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897880" y="1188720"/>
            <a:ext cx="402336" cy="402336"/>
          </a:xfrm>
          <a:prstGeom prst="ellipse">
            <a:avLst/>
          </a:prstGeom>
          <a:solidFill>
            <a:srgbClr val="6A4C93"/>
          </a:solidFill>
          <a:ln w="12700">
            <a:solidFill>
              <a:srgbClr val="6A4C93"/>
            </a:solidFill>
            <a:prstDash val="solid"/>
          </a:ln>
        </p:spPr>
      </p:sp>
      <p:pic>
        <p:nvPicPr>
          <p:cNvPr id="19" name="Image 1" descr="preencoded.png">    </p:cNvPr>
          <p:cNvPicPr>
            <a:picLocks noChangeAspect="1"/>
          </p:cNvPicPr>
          <p:nvPr/>
        </p:nvPicPr>
        <p:blipFill>
          <a:blip r:embed="rId2"/>
          <a:stretch>
            <a:fillRect/>
          </a:stretch>
        </p:blipFill>
        <p:spPr>
          <a:xfrm>
            <a:off x="6002487" y="1293327"/>
            <a:ext cx="193121" cy="193121"/>
          </a:xfrm>
          <a:prstGeom prst="rect">
            <a:avLst/>
          </a:prstGeom>
        </p:spPr>
      </p:pic>
      <p:sp>
        <p:nvSpPr>
          <p:cNvPr id="20" name="Text 16"/>
          <p:cNvSpPr txBox="1"/>
          <p:nvPr/>
        </p:nvSpPr>
        <p:spPr>
          <a:xfrm>
            <a:off x="6428232" y="1243584"/>
            <a:ext cx="2103120" cy="292608"/>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Resource  ·  1</a:t>
            </a:r>
            <a:endParaRPr lang="en-US" sz="1600" dirty="0"/>
          </a:p>
        </p:txBody>
      </p:sp>
      <p:sp>
        <p:nvSpPr>
          <p:cNvPr id="21" name="Text 17"/>
          <p:cNvSpPr txBox="1"/>
          <p:nvPr/>
        </p:nvSpPr>
        <p:spPr>
          <a:xfrm>
            <a:off x="5897880" y="1691640"/>
            <a:ext cx="2651760" cy="201168"/>
          </a:xfrm>
          <a:prstGeom prst="rect">
            <a:avLst/>
          </a:prstGeom>
          <a:noFill/>
          <a:ln/>
        </p:spPr>
        <p:txBody>
          <a:bodyPr wrap="square" lIns="0" tIns="0" rIns="0" bIns="0" rtlCol="0" anchor="ctr"/>
          <a:lstStyle/>
          <a:p>
            <a:pPr indent="0" marL="0">
              <a:buNone/>
            </a:pPr>
            <a:r>
              <a:rPr lang="en-US" sz="1050" b="1" dirty="0">
                <a:solidFill>
                  <a:srgbClr val="6A4C93"/>
                </a:solidFill>
                <a:latin typeface="Courier New" pitchFamily="34" charset="0"/>
                <a:ea typeface="Courier New" pitchFamily="34" charset="-122"/>
                <a:cs typeface="Courier New" pitchFamily="34" charset="-120"/>
              </a:rPr>
              <a:t>resource://market/topics</a:t>
            </a:r>
            <a:endParaRPr lang="en-US" sz="1050" dirty="0"/>
          </a:p>
        </p:txBody>
      </p:sp>
      <p:sp>
        <p:nvSpPr>
          <p:cNvPr id="22" name="Text 18"/>
          <p:cNvSpPr txBox="1"/>
          <p:nvPr/>
        </p:nvSpPr>
        <p:spPr>
          <a:xfrm>
            <a:off x="5897880" y="1938528"/>
            <a:ext cx="2651760" cy="502920"/>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Static list of six topics clients can read, from competitor overview to regional GTM.</a:t>
            </a:r>
            <a:endParaRPr lang="en-US" sz="1100" dirty="0"/>
          </a:p>
        </p:txBody>
      </p:sp>
      <p:sp>
        <p:nvSpPr>
          <p:cNvPr id="23" name="Shape 19"/>
          <p:cNvSpPr/>
          <p:nvPr/>
        </p:nvSpPr>
        <p:spPr>
          <a:xfrm>
            <a:off x="5715000" y="2697480"/>
            <a:ext cx="2971800" cy="1965960"/>
          </a:xfrm>
          <a:prstGeom prst="roundRect">
            <a:avLst>
              <a:gd name="adj" fmla="val 3721"/>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24" name="Shape 20"/>
          <p:cNvSpPr/>
          <p:nvPr/>
        </p:nvSpPr>
        <p:spPr>
          <a:xfrm>
            <a:off x="5897880" y="2834640"/>
            <a:ext cx="402336" cy="402336"/>
          </a:xfrm>
          <a:prstGeom prst="ellipse">
            <a:avLst/>
          </a:prstGeom>
          <a:solidFill>
            <a:srgbClr val="6A4C93"/>
          </a:solidFill>
          <a:ln w="12700">
            <a:solidFill>
              <a:srgbClr val="6A4C93"/>
            </a:solidFill>
            <a:prstDash val="solid"/>
          </a:ln>
        </p:spPr>
      </p:sp>
      <p:pic>
        <p:nvPicPr>
          <p:cNvPr id="25" name="Image 2" descr="preencoded.png">    </p:cNvPr>
          <p:cNvPicPr>
            <a:picLocks noChangeAspect="1"/>
          </p:cNvPicPr>
          <p:nvPr/>
        </p:nvPicPr>
        <p:blipFill>
          <a:blip r:embed="rId3"/>
          <a:stretch>
            <a:fillRect/>
          </a:stretch>
        </p:blipFill>
        <p:spPr>
          <a:xfrm>
            <a:off x="6002487" y="2939247"/>
            <a:ext cx="193121" cy="193121"/>
          </a:xfrm>
          <a:prstGeom prst="rect">
            <a:avLst/>
          </a:prstGeom>
        </p:spPr>
      </p:pic>
      <p:sp>
        <p:nvSpPr>
          <p:cNvPr id="26" name="Text 21"/>
          <p:cNvSpPr txBox="1"/>
          <p:nvPr/>
        </p:nvSpPr>
        <p:spPr>
          <a:xfrm>
            <a:off x="6428232" y="2889504"/>
            <a:ext cx="2103120" cy="292608"/>
          </a:xfrm>
          <a:prstGeom prst="rect">
            <a:avLst/>
          </a:prstGeom>
          <a:noFill/>
          <a:ln/>
        </p:spPr>
        <p:txBody>
          <a:bodyPr wrap="square" lIns="0" tIns="0" rIns="0" bIns="0" rtlCol="0" anchor="ctr"/>
          <a:lstStyle/>
          <a:p>
            <a:pPr indent="0" marL="0">
              <a:buNone/>
            </a:pPr>
            <a:r>
              <a:rPr lang="en-US" sz="1600" b="1" dirty="0">
                <a:solidFill>
                  <a:srgbClr val="16222B"/>
                </a:solidFill>
                <a:latin typeface="Cambria" pitchFamily="34" charset="0"/>
                <a:ea typeface="Cambria" pitchFamily="34" charset="-122"/>
                <a:cs typeface="Cambria" pitchFamily="34" charset="-120"/>
              </a:rPr>
              <a:t>Prompt  ·  1</a:t>
            </a:r>
            <a:endParaRPr lang="en-US" sz="1600" dirty="0"/>
          </a:p>
        </p:txBody>
      </p:sp>
      <p:sp>
        <p:nvSpPr>
          <p:cNvPr id="27" name="Text 22"/>
          <p:cNvSpPr txBox="1"/>
          <p:nvPr/>
        </p:nvSpPr>
        <p:spPr>
          <a:xfrm>
            <a:off x="5897880" y="3337560"/>
            <a:ext cx="2697480" cy="201168"/>
          </a:xfrm>
          <a:prstGeom prst="rect">
            <a:avLst/>
          </a:prstGeom>
          <a:noFill/>
          <a:ln/>
        </p:spPr>
        <p:txBody>
          <a:bodyPr wrap="square" lIns="0" tIns="0" rIns="0" bIns="0" rtlCol="0" anchor="ctr"/>
          <a:lstStyle/>
          <a:p>
            <a:pPr indent="0" marL="0">
              <a:buNone/>
            </a:pPr>
            <a:r>
              <a:rPr lang="en-US" sz="1050" b="1" dirty="0">
                <a:solidFill>
                  <a:srgbClr val="6A4C93"/>
                </a:solidFill>
                <a:latin typeface="Courier New" pitchFamily="34" charset="0"/>
                <a:ea typeface="Courier New" pitchFamily="34" charset="-122"/>
                <a:cs typeface="Courier New" pitchFamily="34" charset="-120"/>
              </a:rPr>
              <a:t>competitor_analysis_prompt</a:t>
            </a:r>
            <a:endParaRPr lang="en-US" sz="1050" dirty="0"/>
          </a:p>
        </p:txBody>
      </p:sp>
      <p:sp>
        <p:nvSpPr>
          <p:cNvPr id="28" name="Text 23"/>
          <p:cNvSpPr txBox="1"/>
          <p:nvPr/>
        </p:nvSpPr>
        <p:spPr>
          <a:xfrm>
            <a:off x="5897880" y="3566160"/>
            <a:ext cx="2697480" cy="182880"/>
          </a:xfrm>
          <a:prstGeom prst="rect">
            <a:avLst/>
          </a:prstGeom>
          <a:noFill/>
          <a:ln/>
        </p:spPr>
        <p:txBody>
          <a:bodyPr wrap="square" lIns="0" tIns="0" rIns="0" bIns="0" rtlCol="0" anchor="ctr"/>
          <a:lstStyle/>
          <a:p>
            <a:pPr indent="0" marL="0">
              <a:buNone/>
            </a:pPr>
            <a:r>
              <a:rPr lang="en-US" sz="1000" i="1" dirty="0">
                <a:solidFill>
                  <a:srgbClr val="4A5A6A"/>
                </a:solidFill>
                <a:latin typeface="Calibri" pitchFamily="34" charset="0"/>
                <a:ea typeface="Calibri" pitchFamily="34" charset="-122"/>
                <a:cs typeface="Calibri" pitchFamily="34" charset="-120"/>
              </a:rPr>
              <a:t>inputs: company, region, category</a:t>
            </a:r>
            <a:endParaRPr lang="en-US" sz="1000" dirty="0"/>
          </a:p>
        </p:txBody>
      </p:sp>
      <p:sp>
        <p:nvSpPr>
          <p:cNvPr id="29" name="Text 24"/>
          <p:cNvSpPr txBox="1"/>
          <p:nvPr/>
        </p:nvSpPr>
        <p:spPr>
          <a:xfrm>
            <a:off x="5897880" y="3840480"/>
            <a:ext cx="2697480" cy="731520"/>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A reusable template that turns a company name into a five-step brief: overview, competitors, portfolio and pricing, news pulse, SWOT plus Five Forces.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9"/>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566928"/>
          </a:xfrm>
          <a:prstGeom prst="rect">
            <a:avLst/>
          </a:prstGeom>
          <a:noFill/>
          <a:ln/>
        </p:spPr>
        <p:txBody>
          <a:bodyPr wrap="square" lIns="0" tIns="0" rIns="0" bIns="0" rtlCol="0" anchor="ctr"/>
          <a:lstStyle/>
          <a:p>
            <a:pPr indent="0" marL="0">
              <a:buNone/>
            </a:pPr>
            <a:r>
              <a:rPr lang="en-US" sz="3200" b="1" dirty="0">
                <a:solidFill>
                  <a:srgbClr val="16222B"/>
                </a:solidFill>
                <a:latin typeface="Cambria" pitchFamily="34" charset="0"/>
                <a:ea typeface="Cambria" pitchFamily="34" charset="-122"/>
                <a:cs typeface="Cambria" pitchFamily="34" charset="-120"/>
              </a:rPr>
              <a:t>From prompt to report: end-to-end flow</a:t>
            </a:r>
            <a:endParaRPr lang="en-US" sz="3200" dirty="0"/>
          </a:p>
        </p:txBody>
      </p:sp>
      <p:sp>
        <p:nvSpPr>
          <p:cNvPr id="3" name="Shape 1"/>
          <p:cNvSpPr/>
          <p:nvPr/>
        </p:nvSpPr>
        <p:spPr>
          <a:xfrm>
            <a:off x="457200" y="1005840"/>
            <a:ext cx="2590495" cy="1188720"/>
          </a:xfrm>
          <a:prstGeom prst="roundRect">
            <a:avLst>
              <a:gd name="adj" fmla="val 6154"/>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594360" y="1143000"/>
            <a:ext cx="384048" cy="384048"/>
          </a:xfrm>
          <a:prstGeom prst="ellipse">
            <a:avLst/>
          </a:prstGeom>
          <a:solidFill>
            <a:srgbClr val="0E7C86"/>
          </a:solidFill>
          <a:ln w="12700">
            <a:solidFill>
              <a:srgbClr val="0E7C86"/>
            </a:solidFill>
            <a:prstDash val="solid"/>
          </a:ln>
        </p:spPr>
      </p:sp>
      <p:sp>
        <p:nvSpPr>
          <p:cNvPr id="5" name="Text 3"/>
          <p:cNvSpPr txBox="1"/>
          <p:nvPr/>
        </p:nvSpPr>
        <p:spPr>
          <a:xfrm>
            <a:off x="59436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115568"/>
            <a:ext cx="1813255" cy="457200"/>
          </a:xfrm>
          <a:prstGeom prst="rect">
            <a:avLst/>
          </a:prstGeom>
          <a:noFill/>
          <a:ln/>
        </p:spPr>
        <p:txBody>
          <a:bodyPr wrap="square" lIns="0" tIns="0" rIns="0" bIns="0" rtlCol="0" anchor="ctr"/>
          <a:lstStyle/>
          <a:p>
            <a:pPr indent="0" marL="0">
              <a:buNone/>
            </a:pPr>
            <a:r>
              <a:rPr lang="en-US" sz="900" b="1" spc="150" kern="0" dirty="0">
                <a:solidFill>
                  <a:srgbClr val="0E7C86"/>
                </a:solidFill>
                <a:latin typeface="Calibri" pitchFamily="34" charset="0"/>
                <a:ea typeface="Calibri" pitchFamily="34" charset="-122"/>
                <a:cs typeface="Calibri" pitchFamily="34" charset="-120"/>
              </a:rPr>
              <a:t>HOST</a:t>
            </a:r>
            <a:endParaRPr lang="en-US" sz="900" dirty="0"/>
          </a:p>
          <a:p>
            <a:pPr indent="0" marL="0">
              <a:buNone/>
            </a:pPr>
            <a:r>
              <a:rPr lang="en-US" sz="1500" b="1" dirty="0">
                <a:solidFill>
                  <a:srgbClr val="16222B"/>
                </a:solidFill>
                <a:latin typeface="Calibri" pitchFamily="34" charset="0"/>
                <a:ea typeface="Calibri" pitchFamily="34" charset="-122"/>
                <a:cs typeface="Calibri" pitchFamily="34" charset="-120"/>
              </a:rPr>
              <a:t>Prompt</a:t>
            </a:r>
            <a:endParaRPr lang="en-US" sz="900" dirty="0"/>
          </a:p>
        </p:txBody>
      </p:sp>
      <p:sp>
        <p:nvSpPr>
          <p:cNvPr id="7" name="Text 5"/>
          <p:cNvSpPr txBox="1"/>
          <p:nvPr/>
        </p:nvSpPr>
        <p:spPr>
          <a:xfrm>
            <a:off x="594360" y="1645920"/>
            <a:ext cx="2316175" cy="475488"/>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Analyst asks Cursor to compare NVIDIA and AMD in under 300 words.</a:t>
            </a:r>
            <a:endParaRPr lang="en-US" sz="1100" dirty="0"/>
          </a:p>
        </p:txBody>
      </p:sp>
      <p:sp>
        <p:nvSpPr>
          <p:cNvPr id="8" name="Shape 6"/>
          <p:cNvSpPr/>
          <p:nvPr/>
        </p:nvSpPr>
        <p:spPr>
          <a:xfrm>
            <a:off x="3276295" y="1005840"/>
            <a:ext cx="2590495" cy="1188720"/>
          </a:xfrm>
          <a:prstGeom prst="roundRect">
            <a:avLst>
              <a:gd name="adj" fmla="val 6154"/>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3413455" y="1143000"/>
            <a:ext cx="384048" cy="384048"/>
          </a:xfrm>
          <a:prstGeom prst="ellipse">
            <a:avLst/>
          </a:prstGeom>
          <a:solidFill>
            <a:srgbClr val="B7791F"/>
          </a:solidFill>
          <a:ln w="12700">
            <a:solidFill>
              <a:srgbClr val="B7791F"/>
            </a:solidFill>
            <a:prstDash val="solid"/>
          </a:ln>
        </p:spPr>
      </p:sp>
      <p:sp>
        <p:nvSpPr>
          <p:cNvPr id="10" name="Text 8"/>
          <p:cNvSpPr txBox="1"/>
          <p:nvPr/>
        </p:nvSpPr>
        <p:spPr>
          <a:xfrm>
            <a:off x="3413455"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916375" y="1115568"/>
            <a:ext cx="1813255" cy="457200"/>
          </a:xfrm>
          <a:prstGeom prst="rect">
            <a:avLst/>
          </a:prstGeom>
          <a:noFill/>
          <a:ln/>
        </p:spPr>
        <p:txBody>
          <a:bodyPr wrap="square" lIns="0" tIns="0" rIns="0" bIns="0" rtlCol="0" anchor="ctr"/>
          <a:lstStyle/>
          <a:p>
            <a:pPr indent="0" marL="0">
              <a:buNone/>
            </a:pPr>
            <a:r>
              <a:rPr lang="en-US" sz="900" b="1" spc="150" kern="0" dirty="0">
                <a:solidFill>
                  <a:srgbClr val="B7791F"/>
                </a:solidFill>
                <a:latin typeface="Calibri" pitchFamily="34" charset="0"/>
                <a:ea typeface="Calibri" pitchFamily="34" charset="-122"/>
                <a:cs typeface="Calibri" pitchFamily="34" charset="-120"/>
              </a:rPr>
              <a:t>CLIENT</a:t>
            </a:r>
            <a:endParaRPr lang="en-US" sz="900" dirty="0"/>
          </a:p>
          <a:p>
            <a:pPr indent="0" marL="0">
              <a:buNone/>
            </a:pPr>
            <a:r>
              <a:rPr lang="en-US" sz="1500" b="1" dirty="0">
                <a:solidFill>
                  <a:srgbClr val="16222B"/>
                </a:solidFill>
                <a:latin typeface="Calibri" pitchFamily="34" charset="0"/>
                <a:ea typeface="Calibri" pitchFamily="34" charset="-122"/>
                <a:cs typeface="Calibri" pitchFamily="34" charset="-120"/>
              </a:rPr>
              <a:t>Connect</a:t>
            </a:r>
            <a:endParaRPr lang="en-US" sz="900" dirty="0"/>
          </a:p>
        </p:txBody>
      </p:sp>
      <p:sp>
        <p:nvSpPr>
          <p:cNvPr id="12" name="Text 10"/>
          <p:cNvSpPr txBox="1"/>
          <p:nvPr/>
        </p:nvSpPr>
        <p:spPr>
          <a:xfrm>
            <a:off x="3413455" y="1645920"/>
            <a:ext cx="2316175" cy="475488"/>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Built-in client reads mcp.json, opens the SSE link and lists the tools.</a:t>
            </a:r>
            <a:endParaRPr lang="en-US" sz="1100" dirty="0"/>
          </a:p>
        </p:txBody>
      </p:sp>
      <p:sp>
        <p:nvSpPr>
          <p:cNvPr id="13" name="Shape 11"/>
          <p:cNvSpPr/>
          <p:nvPr/>
        </p:nvSpPr>
        <p:spPr>
          <a:xfrm>
            <a:off x="6095390" y="1005840"/>
            <a:ext cx="2590495" cy="1188720"/>
          </a:xfrm>
          <a:prstGeom prst="roundRect">
            <a:avLst>
              <a:gd name="adj" fmla="val 6154"/>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6232550" y="1143000"/>
            <a:ext cx="384048" cy="384048"/>
          </a:xfrm>
          <a:prstGeom prst="ellipse">
            <a:avLst/>
          </a:prstGeom>
          <a:solidFill>
            <a:srgbClr val="0E7C86"/>
          </a:solidFill>
          <a:ln w="12700">
            <a:solidFill>
              <a:srgbClr val="0E7C86"/>
            </a:solidFill>
            <a:prstDash val="solid"/>
          </a:ln>
        </p:spPr>
      </p:sp>
      <p:sp>
        <p:nvSpPr>
          <p:cNvPr id="15" name="Text 13"/>
          <p:cNvSpPr txBox="1"/>
          <p:nvPr/>
        </p:nvSpPr>
        <p:spPr>
          <a:xfrm>
            <a:off x="623255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735470" y="1115568"/>
            <a:ext cx="1813255" cy="457200"/>
          </a:xfrm>
          <a:prstGeom prst="rect">
            <a:avLst/>
          </a:prstGeom>
          <a:noFill/>
          <a:ln/>
        </p:spPr>
        <p:txBody>
          <a:bodyPr wrap="square" lIns="0" tIns="0" rIns="0" bIns="0" rtlCol="0" anchor="ctr"/>
          <a:lstStyle/>
          <a:p>
            <a:pPr indent="0" marL="0">
              <a:buNone/>
            </a:pPr>
            <a:r>
              <a:rPr lang="en-US" sz="900" b="1" spc="150" kern="0" dirty="0">
                <a:solidFill>
                  <a:srgbClr val="0E7C86"/>
                </a:solidFill>
                <a:latin typeface="Calibri" pitchFamily="34" charset="0"/>
                <a:ea typeface="Calibri" pitchFamily="34" charset="-122"/>
                <a:cs typeface="Calibri" pitchFamily="34" charset="-120"/>
              </a:rPr>
              <a:t>HOST</a:t>
            </a:r>
            <a:endParaRPr lang="en-US" sz="900" dirty="0"/>
          </a:p>
          <a:p>
            <a:pPr indent="0" marL="0">
              <a:buNone/>
            </a:pPr>
            <a:r>
              <a:rPr lang="en-US" sz="1500" b="1" dirty="0">
                <a:solidFill>
                  <a:srgbClr val="16222B"/>
                </a:solidFill>
                <a:latin typeface="Calibri" pitchFamily="34" charset="0"/>
                <a:ea typeface="Calibri" pitchFamily="34" charset="-122"/>
                <a:cs typeface="Calibri" pitchFamily="34" charset="-120"/>
              </a:rPr>
              <a:t>Plan</a:t>
            </a:r>
            <a:endParaRPr lang="en-US" sz="900" dirty="0"/>
          </a:p>
        </p:txBody>
      </p:sp>
      <p:sp>
        <p:nvSpPr>
          <p:cNvPr id="17" name="Text 15"/>
          <p:cNvSpPr txBox="1"/>
          <p:nvPr/>
        </p:nvSpPr>
        <p:spPr>
          <a:xfrm>
            <a:off x="6232550" y="1645920"/>
            <a:ext cx="2316175" cy="475488"/>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The LLM chooses which of the five tools to call.</a:t>
            </a:r>
            <a:endParaRPr lang="en-US" sz="1100" dirty="0"/>
          </a:p>
        </p:txBody>
      </p:sp>
      <p:sp>
        <p:nvSpPr>
          <p:cNvPr id="18" name="Shape 16"/>
          <p:cNvSpPr/>
          <p:nvPr/>
        </p:nvSpPr>
        <p:spPr>
          <a:xfrm>
            <a:off x="457200" y="2423160"/>
            <a:ext cx="2590495" cy="1188720"/>
          </a:xfrm>
          <a:prstGeom prst="roundRect">
            <a:avLst>
              <a:gd name="adj" fmla="val 6154"/>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594360" y="2560320"/>
            <a:ext cx="384048" cy="384048"/>
          </a:xfrm>
          <a:prstGeom prst="ellipse">
            <a:avLst/>
          </a:prstGeom>
          <a:solidFill>
            <a:srgbClr val="B7791F"/>
          </a:solidFill>
          <a:ln w="12700">
            <a:solidFill>
              <a:srgbClr val="B7791F"/>
            </a:solidFill>
            <a:prstDash val="solid"/>
          </a:ln>
        </p:spPr>
      </p:sp>
      <p:sp>
        <p:nvSpPr>
          <p:cNvPr id="20" name="Text 18"/>
          <p:cNvSpPr txBox="1"/>
          <p:nvPr/>
        </p:nvSpPr>
        <p:spPr>
          <a:xfrm>
            <a:off x="59436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097280" y="2532888"/>
            <a:ext cx="1813255" cy="457200"/>
          </a:xfrm>
          <a:prstGeom prst="rect">
            <a:avLst/>
          </a:prstGeom>
          <a:noFill/>
          <a:ln/>
        </p:spPr>
        <p:txBody>
          <a:bodyPr wrap="square" lIns="0" tIns="0" rIns="0" bIns="0" rtlCol="0" anchor="ctr"/>
          <a:lstStyle/>
          <a:p>
            <a:pPr indent="0" marL="0">
              <a:buNone/>
            </a:pPr>
            <a:r>
              <a:rPr lang="en-US" sz="900" b="1" spc="150" kern="0" dirty="0">
                <a:solidFill>
                  <a:srgbClr val="B7791F"/>
                </a:solidFill>
                <a:latin typeface="Calibri" pitchFamily="34" charset="0"/>
                <a:ea typeface="Calibri" pitchFamily="34" charset="-122"/>
                <a:cs typeface="Calibri" pitchFamily="34" charset="-120"/>
              </a:rPr>
              <a:t>CLIENT to SERVER</a:t>
            </a:r>
            <a:endParaRPr lang="en-US" sz="900" dirty="0"/>
          </a:p>
          <a:p>
            <a:pPr indent="0" marL="0">
              <a:buNone/>
            </a:pPr>
            <a:r>
              <a:rPr lang="en-US" sz="1500" b="1" dirty="0">
                <a:solidFill>
                  <a:srgbClr val="16222B"/>
                </a:solidFill>
                <a:latin typeface="Calibri" pitchFamily="34" charset="0"/>
                <a:ea typeface="Calibri" pitchFamily="34" charset="-122"/>
                <a:cs typeface="Calibri" pitchFamily="34" charset="-120"/>
              </a:rPr>
              <a:t>Call</a:t>
            </a:r>
            <a:endParaRPr lang="en-US" sz="900" dirty="0"/>
          </a:p>
        </p:txBody>
      </p:sp>
      <p:sp>
        <p:nvSpPr>
          <p:cNvPr id="22" name="Text 20"/>
          <p:cNvSpPr txBox="1"/>
          <p:nvPr/>
        </p:nvSpPr>
        <p:spPr>
          <a:xfrm>
            <a:off x="594360" y="3063240"/>
            <a:ext cx="2316175" cy="475488"/>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The client sends JSON-RPC tool calls to MarketIntel.</a:t>
            </a:r>
            <a:endParaRPr lang="en-US" sz="1100" dirty="0"/>
          </a:p>
        </p:txBody>
      </p:sp>
      <p:sp>
        <p:nvSpPr>
          <p:cNvPr id="23" name="Shape 21"/>
          <p:cNvSpPr/>
          <p:nvPr/>
        </p:nvSpPr>
        <p:spPr>
          <a:xfrm>
            <a:off x="3276295" y="2423160"/>
            <a:ext cx="2590495" cy="1188720"/>
          </a:xfrm>
          <a:prstGeom prst="roundRect">
            <a:avLst>
              <a:gd name="adj" fmla="val 6154"/>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3413455" y="2560320"/>
            <a:ext cx="384048" cy="384048"/>
          </a:xfrm>
          <a:prstGeom prst="ellipse">
            <a:avLst/>
          </a:prstGeom>
          <a:solidFill>
            <a:srgbClr val="6A4C93"/>
          </a:solidFill>
          <a:ln w="12700">
            <a:solidFill>
              <a:srgbClr val="6A4C93"/>
            </a:solidFill>
            <a:prstDash val="solid"/>
          </a:ln>
        </p:spPr>
      </p:sp>
      <p:sp>
        <p:nvSpPr>
          <p:cNvPr id="25" name="Text 23"/>
          <p:cNvSpPr txBox="1"/>
          <p:nvPr/>
        </p:nvSpPr>
        <p:spPr>
          <a:xfrm>
            <a:off x="3413455"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3916375" y="2532888"/>
            <a:ext cx="1813255" cy="457200"/>
          </a:xfrm>
          <a:prstGeom prst="rect">
            <a:avLst/>
          </a:prstGeom>
          <a:noFill/>
          <a:ln/>
        </p:spPr>
        <p:txBody>
          <a:bodyPr wrap="square" lIns="0" tIns="0" rIns="0" bIns="0" rtlCol="0" anchor="ctr"/>
          <a:lstStyle/>
          <a:p>
            <a:pPr indent="0" marL="0">
              <a:buNone/>
            </a:pPr>
            <a:r>
              <a:rPr lang="en-US" sz="900" b="1" spc="150" kern="0" dirty="0">
                <a:solidFill>
                  <a:srgbClr val="6A4C93"/>
                </a:solidFill>
                <a:latin typeface="Calibri" pitchFamily="34" charset="0"/>
                <a:ea typeface="Calibri" pitchFamily="34" charset="-122"/>
                <a:cs typeface="Calibri" pitchFamily="34" charset="-120"/>
              </a:rPr>
              <a:t>SERVER to TAVILY</a:t>
            </a:r>
            <a:endParaRPr lang="en-US" sz="900" dirty="0"/>
          </a:p>
          <a:p>
            <a:pPr indent="0" marL="0">
              <a:buNone/>
            </a:pPr>
            <a:r>
              <a:rPr lang="en-US" sz="1500" b="1" dirty="0">
                <a:solidFill>
                  <a:srgbClr val="16222B"/>
                </a:solidFill>
                <a:latin typeface="Calibri" pitchFamily="34" charset="0"/>
                <a:ea typeface="Calibri" pitchFamily="34" charset="-122"/>
                <a:cs typeface="Calibri" pitchFamily="34" charset="-120"/>
              </a:rPr>
              <a:t>Fetch</a:t>
            </a:r>
            <a:endParaRPr lang="en-US" sz="900" dirty="0"/>
          </a:p>
        </p:txBody>
      </p:sp>
      <p:sp>
        <p:nvSpPr>
          <p:cNvPr id="27" name="Text 25"/>
          <p:cNvSpPr txBox="1"/>
          <p:nvPr/>
        </p:nvSpPr>
        <p:spPr>
          <a:xfrm>
            <a:off x="3413455" y="3063240"/>
            <a:ext cx="2316175" cy="475488"/>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_tsearch() queries Tavily and returns an answer plus sources.</a:t>
            </a:r>
            <a:endParaRPr lang="en-US" sz="1100" dirty="0"/>
          </a:p>
        </p:txBody>
      </p:sp>
      <p:sp>
        <p:nvSpPr>
          <p:cNvPr id="28" name="Shape 26"/>
          <p:cNvSpPr/>
          <p:nvPr/>
        </p:nvSpPr>
        <p:spPr>
          <a:xfrm>
            <a:off x="6095390" y="2423160"/>
            <a:ext cx="2590495" cy="1188720"/>
          </a:xfrm>
          <a:prstGeom prst="roundRect">
            <a:avLst>
              <a:gd name="adj" fmla="val 6154"/>
            </a:avLst>
          </a:prstGeom>
          <a:solidFill>
            <a:srgbClr val="FFFFFF"/>
          </a:solidFill>
          <a:ln w="9525">
            <a:solidFill>
              <a:srgbClr val="DDE3E8"/>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6232550" y="2560320"/>
            <a:ext cx="384048" cy="384048"/>
          </a:xfrm>
          <a:prstGeom prst="ellipse">
            <a:avLst/>
          </a:prstGeom>
          <a:solidFill>
            <a:srgbClr val="0E7C86"/>
          </a:solidFill>
          <a:ln w="12700">
            <a:solidFill>
              <a:srgbClr val="0E7C86"/>
            </a:solidFill>
            <a:prstDash val="solid"/>
          </a:ln>
        </p:spPr>
      </p:sp>
      <p:sp>
        <p:nvSpPr>
          <p:cNvPr id="30" name="Text 28"/>
          <p:cNvSpPr txBox="1"/>
          <p:nvPr/>
        </p:nvSpPr>
        <p:spPr>
          <a:xfrm>
            <a:off x="623255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6735470" y="2532888"/>
            <a:ext cx="1813255" cy="457200"/>
          </a:xfrm>
          <a:prstGeom prst="rect">
            <a:avLst/>
          </a:prstGeom>
          <a:noFill/>
          <a:ln/>
        </p:spPr>
        <p:txBody>
          <a:bodyPr wrap="square" lIns="0" tIns="0" rIns="0" bIns="0" rtlCol="0" anchor="ctr"/>
          <a:lstStyle/>
          <a:p>
            <a:pPr indent="0" marL="0">
              <a:buNone/>
            </a:pPr>
            <a:r>
              <a:rPr lang="en-US" sz="900" b="1" spc="150" kern="0" dirty="0">
                <a:solidFill>
                  <a:srgbClr val="0E7C86"/>
                </a:solidFill>
                <a:latin typeface="Calibri" pitchFamily="34" charset="0"/>
                <a:ea typeface="Calibri" pitchFamily="34" charset="-122"/>
                <a:cs typeface="Calibri" pitchFamily="34" charset="-120"/>
              </a:rPr>
              <a:t>HOST</a:t>
            </a:r>
            <a:endParaRPr lang="en-US" sz="900" dirty="0"/>
          </a:p>
          <a:p>
            <a:pPr indent="0" marL="0">
              <a:buNone/>
            </a:pPr>
            <a:r>
              <a:rPr lang="en-US" sz="1500" b="1" dirty="0">
                <a:solidFill>
                  <a:srgbClr val="16222B"/>
                </a:solidFill>
                <a:latin typeface="Calibri" pitchFamily="34" charset="0"/>
                <a:ea typeface="Calibri" pitchFamily="34" charset="-122"/>
                <a:cs typeface="Calibri" pitchFamily="34" charset="-120"/>
              </a:rPr>
              <a:t>Answer</a:t>
            </a:r>
            <a:endParaRPr lang="en-US" sz="900" dirty="0"/>
          </a:p>
        </p:txBody>
      </p:sp>
      <p:sp>
        <p:nvSpPr>
          <p:cNvPr id="32" name="Text 30"/>
          <p:cNvSpPr txBox="1"/>
          <p:nvPr/>
        </p:nvSpPr>
        <p:spPr>
          <a:xfrm>
            <a:off x="6232550" y="3063240"/>
            <a:ext cx="2316175" cy="475488"/>
          </a:xfrm>
          <a:prstGeom prst="rect">
            <a:avLst/>
          </a:prstGeom>
          <a:noFill/>
          <a:ln/>
        </p:spPr>
        <p:txBody>
          <a:bodyPr wrap="square" lIns="0" tIns="0" rIns="0" bIns="0" rtlCol="0" anchor="t"/>
          <a:lstStyle/>
          <a:p>
            <a:pPr indent="0" marL="0">
              <a:buNone/>
            </a:pPr>
            <a:r>
              <a:rPr lang="en-US" sz="1100" dirty="0">
                <a:solidFill>
                  <a:srgbClr val="4A5A6A"/>
                </a:solidFill>
                <a:latin typeface="Calibri" pitchFamily="34" charset="0"/>
                <a:ea typeface="Calibri" pitchFamily="34" charset="-122"/>
                <a:cs typeface="Calibri" pitchFamily="34" charset="-120"/>
              </a:rPr>
              <a:t>The LLM merges the results into a concise, cited report in the chat.</a:t>
            </a:r>
            <a:endParaRPr lang="en-US" sz="1100" dirty="0"/>
          </a:p>
        </p:txBody>
      </p:sp>
      <p:sp>
        <p:nvSpPr>
          <p:cNvPr id="33" name="Shape 31"/>
          <p:cNvSpPr/>
          <p:nvPr/>
        </p:nvSpPr>
        <p:spPr>
          <a:xfrm>
            <a:off x="457200" y="3840480"/>
            <a:ext cx="5257800" cy="914400"/>
          </a:xfrm>
          <a:prstGeom prst="roundRect">
            <a:avLst>
              <a:gd name="adj" fmla="val 8000"/>
            </a:avLst>
          </a:prstGeom>
          <a:solidFill>
            <a:srgbClr val="16222B"/>
          </a:solidFill>
          <a:ln w="12700">
            <a:solidFill>
              <a:srgbClr val="16222B"/>
            </a:solidFill>
            <a:prstDash val="solid"/>
          </a:ln>
        </p:spPr>
      </p:sp>
      <p:sp>
        <p:nvSpPr>
          <p:cNvPr id="34" name="Text 32"/>
          <p:cNvSpPr txBox="1"/>
          <p:nvPr/>
        </p:nvSpPr>
        <p:spPr>
          <a:xfrm>
            <a:off x="640080" y="3886200"/>
            <a:ext cx="4937760" cy="822960"/>
          </a:xfrm>
          <a:prstGeom prst="rect">
            <a:avLst/>
          </a:prstGeom>
          <a:noFill/>
          <a:ln/>
        </p:spPr>
        <p:txBody>
          <a:bodyPr wrap="square" lIns="0" tIns="0" rIns="0" bIns="0" rtlCol="0" anchor="ctr"/>
          <a:lstStyle/>
          <a:p>
            <a:pPr indent="0" marL="0">
              <a:buNone/>
            </a:pPr>
            <a:r>
              <a:rPr lang="en-US" sz="900" b="1" spc="200" kern="0" dirty="0">
                <a:solidFill>
                  <a:srgbClr val="5FC3CB"/>
                </a:solidFill>
                <a:latin typeface="Calibri" pitchFamily="34" charset="0"/>
                <a:ea typeface="Calibri" pitchFamily="34" charset="-122"/>
                <a:cs typeface="Calibri" pitchFamily="34" charset="-120"/>
              </a:rPr>
              <a:t>RUN IT</a:t>
            </a:r>
            <a:endParaRPr lang="en-US" sz="900" dirty="0"/>
          </a:p>
          <a:p>
            <a:pPr indent="0" marL="0">
              <a:buNone/>
            </a:pPr>
            <a:r>
              <a:rPr lang="en-US" sz="1000" dirty="0">
                <a:solidFill>
                  <a:srgbClr val="FFFFFF"/>
                </a:solidFill>
                <a:latin typeface="Courier New" pitchFamily="34" charset="0"/>
                <a:ea typeface="Courier New" pitchFamily="34" charset="-122"/>
                <a:cs typeface="Courier New" pitchFamily="34" charset="-120"/>
              </a:rPr>
              <a:t>uv init MCP_DEMO_1  &amp;&amp;  uv add fastmcp tavily-python</a:t>
            </a:r>
            <a:endParaRPr lang="en-US" sz="900" dirty="0"/>
          </a:p>
          <a:p>
            <a:pPr indent="0" marL="0">
              <a:buNone/>
            </a:pPr>
            <a:r>
              <a:rPr lang="en-US" sz="1000" dirty="0">
                <a:solidFill>
                  <a:srgbClr val="FFFFFF"/>
                </a:solidFill>
                <a:latin typeface="Courier New" pitchFamily="34" charset="0"/>
                <a:ea typeface="Courier New" pitchFamily="34" charset="-122"/>
                <a:cs typeface="Courier New" pitchFamily="34" charset="-120"/>
              </a:rPr>
              <a:t>uv run server.py   # serves http://127.0.0.1:8000/sse</a:t>
            </a:r>
            <a:endParaRPr lang="en-US" sz="900" dirty="0"/>
          </a:p>
        </p:txBody>
      </p:sp>
      <p:sp>
        <p:nvSpPr>
          <p:cNvPr id="35" name="Shape 33"/>
          <p:cNvSpPr/>
          <p:nvPr/>
        </p:nvSpPr>
        <p:spPr>
          <a:xfrm>
            <a:off x="5897880" y="3840480"/>
            <a:ext cx="2788920" cy="914400"/>
          </a:xfrm>
          <a:prstGeom prst="roundRect">
            <a:avLst>
              <a:gd name="adj" fmla="val 8000"/>
            </a:avLst>
          </a:prstGeom>
          <a:solidFill>
            <a:srgbClr val="FBF0DC"/>
          </a:solidFill>
          <a:ln w="12700">
            <a:solidFill>
              <a:srgbClr val="FBF0DC"/>
            </a:solidFill>
            <a:prstDash val="solid"/>
          </a:ln>
        </p:spPr>
      </p:sp>
      <p:sp>
        <p:nvSpPr>
          <p:cNvPr id="36" name="Text 34"/>
          <p:cNvSpPr txBox="1"/>
          <p:nvPr/>
        </p:nvSpPr>
        <p:spPr>
          <a:xfrm>
            <a:off x="6035040" y="3886200"/>
            <a:ext cx="2560320" cy="82296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Good practice</a:t>
            </a:r>
            <a:endParaRPr lang="en-US" sz="1100" dirty="0"/>
          </a:p>
          <a:p>
            <a:pPr indent="0" marL="0">
              <a:buNone/>
            </a:pPr>
            <a:r>
              <a:rPr lang="en-US" sz="1050" dirty="0">
                <a:solidFill>
                  <a:srgbClr val="16222B"/>
                </a:solidFill>
                <a:latin typeface="Calibri" pitchFamily="34" charset="0"/>
                <a:ea typeface="Calibri" pitchFamily="34" charset="-122"/>
                <a:cs typeface="Calibri" pitchFamily="34" charset="-120"/>
              </a:rPr>
              <a:t>Keep the Tavily key in an environment variable instead of hard-coding it in server.py.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MarketIntel MCP Server</dc:title>
  <dc:subject>PptxGenJS Presentation</dc:subject>
  <dc:creator>PptxGenJS</dc:creator>
  <cp:lastModifiedBy>PptxGenJS</cp:lastModifiedBy>
  <cp:revision>1</cp:revision>
  <dcterms:created xsi:type="dcterms:W3CDTF">2026-09-20T22:58:30Z</dcterms:created>
  <dcterms:modified xsi:type="dcterms:W3CDTF">2026-09-20T22:58:30Z</dcterms:modified>
</cp:coreProperties>
</file>